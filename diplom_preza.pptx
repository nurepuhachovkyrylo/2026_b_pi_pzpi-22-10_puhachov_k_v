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ru-RU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Пропускна здатність</c:v>
          </c:tx>
          <c:spPr>
            <a:solidFill>
              <a:srgbClr val="2563EB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06B6D4"/>
              </a:solidFill>
            </c:spPr>
            <c:extLst>
              <c:ext xmlns:c16="http://schemas.microsoft.com/office/drawing/2014/chart" uri="{C3380CC4-5D6E-409C-BE32-E72D297353CC}">
                <c16:uniqueId val="{00000001-0A6A-42A5-B7BC-D93AFA807C41}"/>
              </c:ext>
            </c:extLst>
          </c:dPt>
          <c:dLbls>
            <c:delete val="1"/>
          </c:dLbls>
          <c:cat>
            <c:strLit>
              <c:ptCount val="5"/>
              <c:pt idx="0">
                <c:v>HistGB</c:v>
              </c:pt>
              <c:pt idx="1">
                <c:v>GradBoost</c:v>
              </c:pt>
              <c:pt idx="2">
                <c:v>RandForest</c:v>
              </c:pt>
              <c:pt idx="3">
                <c:v>DecisionTree</c:v>
              </c:pt>
              <c:pt idx="4">
                <c:v>LogReg</c:v>
              </c:pt>
            </c:strLit>
          </c:cat>
          <c:val>
            <c:numLit>
              <c:formatCode>0.00</c:formatCode>
              <c:ptCount val="4"/>
              <c:pt idx="0">
                <c:v>75.599999999999994</c:v>
              </c:pt>
              <c:pt idx="1">
                <c:v>207.4</c:v>
              </c:pt>
              <c:pt idx="2">
                <c:v>225.7</c:v>
              </c:pt>
              <c:pt idx="3">
                <c:v>152.69999999999999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0A6A-42A5-B7BC-D93AFA807C4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uk-UA"/>
                  <a:t>Потоки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CE3EE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64748B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250"/>
        </c:scaling>
        <c:delete val="0"/>
        <c:axPos val="l"/>
        <c:majorGridlines>
          <c:spPr>
            <a:ln w="9525">
              <a:solidFill>
                <a:srgbClr val="DCE3EE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uk-UA"/>
                  <a:t>Запитів/с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CE3EE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64748B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spPr>
    <a:solidFill>
      <a:srgbClr val="F5F7FB"/>
    </a:solidFill>
    <a:ln w="0">
      <a:noFill/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18883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Овал 18">
            <a:extLst>
              <a:ext uri="{FF2B5EF4-FFF2-40B4-BE49-F238E27FC236}">
                <a16:creationId xmlns:a16="http://schemas.microsoft.com/office/drawing/2014/main" id="{1002C181-D4D6-4ED5-8576-B6D66013881B}"/>
              </a:ext>
            </a:extLst>
          </p:cNvPr>
          <p:cNvSpPr>
            <a:spLocks noGrp="1"/>
          </p:cNvSpPr>
          <p:nvPr/>
        </p:nvSpPr>
        <p:spPr>
          <a:xfrm>
            <a:off x="9906000" y="-1066800"/>
            <a:ext cx="3333750" cy="3333750"/>
          </a:xfrm>
          <a:prstGeom prst="ellipse">
            <a:avLst/>
          </a:prstGeom>
          <a:solidFill>
            <a:srgbClr val="162A52"/>
          </a:solidFill>
          <a:ln w="0">
            <a:noFill/>
            <a:prstDash val="solid"/>
          </a:ln>
        </p:spPr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F8E5741F-10A8-4946-B545-2662FAD9D062}"/>
              </a:ext>
            </a:extLst>
          </p:cNvPr>
          <p:cNvSpPr>
            <a:spLocks noGrp="1"/>
          </p:cNvSpPr>
          <p:nvPr/>
        </p:nvSpPr>
        <p:spPr>
          <a:xfrm>
            <a:off x="5104032" y="5334000"/>
            <a:ext cx="2286000" cy="2286000"/>
          </a:xfrm>
          <a:prstGeom prst="ellipse">
            <a:avLst/>
          </a:prstGeom>
          <a:solidFill>
            <a:srgbClr val="102449"/>
          </a:solidFill>
          <a:ln w="0">
            <a:noFill/>
            <a:prstDash val="solid"/>
          </a:ln>
        </p:spPr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7E53374-77EB-4E21-AECD-219526E70AC2}"/>
              </a:ext>
            </a:extLst>
          </p:cNvPr>
          <p:cNvSpPr>
            <a:spLocks noGrp="1"/>
          </p:cNvSpPr>
          <p:nvPr/>
        </p:nvSpPr>
        <p:spPr>
          <a:xfrm>
            <a:off x="323850" y="438150"/>
            <a:ext cx="4953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Програмна система</a:t>
            </a:r>
          </a:p>
          <a:p>
            <a:pPr>
              <a:buNone/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моніторингу стану мостів</a:t>
            </a:r>
          </a:p>
          <a:p>
            <a:pPr>
              <a:buNone/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з використанням методу</a:t>
            </a:r>
          </a:p>
          <a:p>
            <a:pPr>
              <a:buNone/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експертних оцінок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0AE6ED6-B46E-4D46-9FA1-9A4D1B5B2B2F}"/>
              </a:ext>
            </a:extLst>
          </p:cNvPr>
          <p:cNvSpPr>
            <a:spLocks noGrp="1"/>
          </p:cNvSpPr>
          <p:nvPr/>
        </p:nvSpPr>
        <p:spPr>
          <a:xfrm>
            <a:off x="571500" y="5334000"/>
            <a:ext cx="476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Пугачов</a:t>
            </a:r>
            <a:r>
              <a:rPr sz="12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К. В. · ПЗПІ-22-10</a:t>
            </a:r>
          </a:p>
          <a:p>
            <a:pPr algn="l">
              <a:buNone/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Науковий</a:t>
            </a:r>
            <a:r>
              <a:rPr sz="12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керівник</a:t>
            </a:r>
            <a:r>
              <a:rPr sz="12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: </a:t>
            </a:r>
            <a:r>
              <a:rPr sz="120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доц</a:t>
            </a:r>
            <a:r>
              <a:rPr sz="12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. </a:t>
            </a:r>
            <a:r>
              <a:rPr sz="1200" b="0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Лановий</a:t>
            </a:r>
            <a:r>
              <a:rPr sz="1200" b="0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О. Ф.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C6627285-8801-4838-85D9-68DC604F9697}"/>
              </a:ext>
            </a:extLst>
          </p:cNvPr>
          <p:cNvSpPr>
            <a:spLocks noGrp="1"/>
          </p:cNvSpPr>
          <p:nvPr/>
        </p:nvSpPr>
        <p:spPr>
          <a:xfrm>
            <a:off x="8077200" y="6238875"/>
            <a:ext cx="3524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4A3B8"/>
                </a:solidFill>
                <a:latin typeface="Aptos"/>
                <a:ea typeface="Aptos"/>
                <a:cs typeface="Aptos"/>
              </a:rPr>
              <a:t>ХНУРЕ · Кафедра програмної інженерії</a:t>
            </a:r>
          </a:p>
        </p:txBody>
      </p:sp>
      <p:pic>
        <p:nvPicPr>
          <p:cNvPr id="44" name="Google Shape;87;p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259" y="5987875"/>
            <a:ext cx="922334" cy="501999"/>
          </a:xfrm>
          <a:prstGeom prst="rect">
            <a:avLst/>
          </a:prstGeom>
          <a:ln w="0">
            <a:noFill/>
          </a:ln>
        </p:spPr>
      </p:pic>
      <p:pic>
        <p:nvPicPr>
          <p:cNvPr id="45" name="Google Shape;65;p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23850" y="122915"/>
            <a:ext cx="2133720" cy="389520"/>
          </a:xfrm>
          <a:prstGeom prst="rect">
            <a:avLst/>
          </a:prstGeom>
          <a:ln w="0">
            <a:noFill/>
          </a:ln>
        </p:spPr>
      </p:pic>
      <p:pic>
        <p:nvPicPr>
          <p:cNvPr id="46" name="Рисунок 45"/>
          <p:cNvPicPr>
            <a:picLocks noChangeAspect="1"/>
          </p:cNvPicPr>
          <p:nvPr/>
        </p:nvPicPr>
        <p:blipFill>
          <a:blip r:embed="rId5"/>
          <a:srcRect t="22455" b="22455"/>
          <a:stretch>
            <a:fillRect/>
          </a:stretch>
        </p:blipFill>
        <p:spPr>
          <a:xfrm>
            <a:off x="5276850" y="1389144"/>
            <a:ext cx="6564321" cy="3508213"/>
          </a:xfrm>
          <a:prstGeom prst="roundRect">
            <a:avLst>
              <a:gd name="adj" fmla="val 4965"/>
            </a:avLst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408EAC1-0DF3-415A-C5EC-2E05B1CA4B7E}"/>
              </a:ext>
            </a:extLst>
          </p:cNvPr>
          <p:cNvSpPr>
            <a:spLocks noGrp="1"/>
          </p:cNvSpPr>
          <p:nvPr/>
        </p:nvSpPr>
        <p:spPr>
          <a:xfrm>
            <a:off x="10982632" y="400050"/>
            <a:ext cx="637868" cy="2476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lang="ru-RU" sz="2400" b="1" dirty="0">
                <a:solidFill>
                  <a:schemeClr val="bg2"/>
                </a:solidFill>
                <a:latin typeface="Aptos"/>
                <a:ea typeface="Aptos"/>
                <a:cs typeface="Aptos"/>
              </a:rPr>
              <a:t>1</a:t>
            </a:r>
            <a:endParaRPr sz="2400" b="1" dirty="0">
              <a:solidFill>
                <a:schemeClr val="bg2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550CB78B-F913-DFAA-2681-BC993E0ACBE5}"/>
              </a:ext>
            </a:extLst>
          </p:cNvPr>
          <p:cNvCxnSpPr>
            <a:cxnSpLocks/>
          </p:cNvCxnSpPr>
          <p:nvPr/>
        </p:nvCxnSpPr>
        <p:spPr>
          <a:xfrm>
            <a:off x="11238271" y="776749"/>
            <a:ext cx="382229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2886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7D05D42-1859-4120-BCB4-FC4DEAF6DAE4}"/>
              </a:ext>
            </a:extLst>
          </p:cNvPr>
          <p:cNvSpPr>
            <a:spLocks noGrp="1"/>
          </p:cNvSpPr>
          <p:nvPr/>
        </p:nvSpPr>
        <p:spPr>
          <a:xfrm>
            <a:off x="571500" y="6477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Опис програмної системи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9B5009D0-A0C3-4C43-8AA2-E2C69895F13B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2324100" cy="1104900"/>
          </a:xfrm>
          <a:prstGeom prst="roundRect">
            <a:avLst>
              <a:gd name="adj" fmla="val 18966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6E13D13D-E1FE-48AF-B799-5A1A784F6BBD}"/>
              </a:ext>
            </a:extLst>
          </p:cNvPr>
          <p:cNvSpPr>
            <a:spLocks noGrp="1"/>
          </p:cNvSpPr>
          <p:nvPr/>
        </p:nvSpPr>
        <p:spPr>
          <a:xfrm>
            <a:off x="781050" y="1943100"/>
            <a:ext cx="609600" cy="609600"/>
          </a:xfrm>
          <a:prstGeom prst="ellipse">
            <a:avLst/>
          </a:prstGeom>
          <a:solidFill>
            <a:srgbClr val="DBEAFE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D1379A8-F32A-4488-AED8-9C829EB9CC29}"/>
              </a:ext>
            </a:extLst>
          </p:cNvPr>
          <p:cNvSpPr>
            <a:spLocks noGrp="1"/>
          </p:cNvSpPr>
          <p:nvPr/>
        </p:nvSpPr>
        <p:spPr>
          <a:xfrm>
            <a:off x="781050" y="2057400"/>
            <a:ext cx="609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809463B-FAE2-4C59-A6BB-74B19D12C1C7}"/>
              </a:ext>
            </a:extLst>
          </p:cNvPr>
          <p:cNvSpPr>
            <a:spLocks noGrp="1"/>
          </p:cNvSpPr>
          <p:nvPr/>
        </p:nvSpPr>
        <p:spPr>
          <a:xfrm>
            <a:off x="1562100" y="2009775"/>
            <a:ext cx="114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мости</a:t>
            </a:r>
            <a:r>
              <a:rPr sz="1275" b="1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у </a:t>
            </a:r>
            <a:r>
              <a:rPr sz="1275" b="1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тестовій</a:t>
            </a:r>
            <a:r>
              <a:rPr sz="1275" b="1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</a:t>
            </a:r>
            <a:r>
              <a:rPr sz="1275" b="1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базі</a:t>
            </a:r>
            <a:endParaRPr sz="1275" b="1" dirty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96FE5757-9954-4CA7-B915-827CFD666496}"/>
              </a:ext>
            </a:extLst>
          </p:cNvPr>
          <p:cNvSpPr>
            <a:spLocks noGrp="1"/>
          </p:cNvSpPr>
          <p:nvPr/>
        </p:nvSpPr>
        <p:spPr>
          <a:xfrm>
            <a:off x="3143250" y="1714500"/>
            <a:ext cx="2324100" cy="1104900"/>
          </a:xfrm>
          <a:prstGeom prst="roundRect">
            <a:avLst>
              <a:gd name="adj" fmla="val 18966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917A5A56-8BE8-4E50-B735-C9708D388808}"/>
              </a:ext>
            </a:extLst>
          </p:cNvPr>
          <p:cNvSpPr>
            <a:spLocks noGrp="1"/>
          </p:cNvSpPr>
          <p:nvPr/>
        </p:nvSpPr>
        <p:spPr>
          <a:xfrm>
            <a:off x="3352800" y="1943100"/>
            <a:ext cx="609600" cy="609600"/>
          </a:xfrm>
          <a:prstGeom prst="ellipse">
            <a:avLst/>
          </a:prstGeom>
          <a:solidFill>
            <a:srgbClr val="CFFAFE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9DB8C21E-505A-4055-BE7A-C6F813D4A9DD}"/>
              </a:ext>
            </a:extLst>
          </p:cNvPr>
          <p:cNvSpPr>
            <a:spLocks noGrp="1"/>
          </p:cNvSpPr>
          <p:nvPr/>
        </p:nvSpPr>
        <p:spPr>
          <a:xfrm>
            <a:off x="3352800" y="2057400"/>
            <a:ext cx="609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192AF0A-30CB-4748-AE03-C5E9C647DD04}"/>
              </a:ext>
            </a:extLst>
          </p:cNvPr>
          <p:cNvSpPr>
            <a:spLocks noGrp="1"/>
          </p:cNvSpPr>
          <p:nvPr/>
        </p:nvSpPr>
        <p:spPr>
          <a:xfrm>
            <a:off x="4133850" y="2009775"/>
            <a:ext cx="114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сенсорів</a:t>
            </a:r>
            <a:r>
              <a:rPr sz="1200" b="1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1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моніторингу</a:t>
            </a:r>
            <a:endParaRPr sz="1200" b="1" dirty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3744CC9B-EABE-45ED-82DE-BC63CFC3612F}"/>
              </a:ext>
            </a:extLst>
          </p:cNvPr>
          <p:cNvSpPr>
            <a:spLocks noGrp="1"/>
          </p:cNvSpPr>
          <p:nvPr/>
        </p:nvSpPr>
        <p:spPr>
          <a:xfrm>
            <a:off x="5715000" y="1714500"/>
            <a:ext cx="2324100" cy="1104900"/>
          </a:xfrm>
          <a:prstGeom prst="roundRect">
            <a:avLst>
              <a:gd name="adj" fmla="val 18966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D3D38DD2-AAF8-40B1-B6E7-B9E708F1713F}"/>
              </a:ext>
            </a:extLst>
          </p:cNvPr>
          <p:cNvSpPr>
            <a:spLocks noGrp="1"/>
          </p:cNvSpPr>
          <p:nvPr/>
        </p:nvSpPr>
        <p:spPr>
          <a:xfrm>
            <a:off x="5924550" y="1943100"/>
            <a:ext cx="609600" cy="609600"/>
          </a:xfrm>
          <a:prstGeom prst="ellipse">
            <a:avLst/>
          </a:prstGeom>
          <a:solidFill>
            <a:srgbClr val="D1FAE5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3E585ED-C05B-4D95-AC55-B3267E9CDA0B}"/>
              </a:ext>
            </a:extLst>
          </p:cNvPr>
          <p:cNvSpPr>
            <a:spLocks noGrp="1"/>
          </p:cNvSpPr>
          <p:nvPr/>
        </p:nvSpPr>
        <p:spPr>
          <a:xfrm>
            <a:off x="5924550" y="2057400"/>
            <a:ext cx="609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2250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C2F36DE-DAE0-41BB-8689-92303A92C14A}"/>
              </a:ext>
            </a:extLst>
          </p:cNvPr>
          <p:cNvSpPr>
            <a:spLocks noGrp="1"/>
          </p:cNvSpPr>
          <p:nvPr/>
        </p:nvSpPr>
        <p:spPr>
          <a:xfrm>
            <a:off x="6705600" y="2009775"/>
            <a:ext cx="1143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lang="ru-RU" sz="1100" b="1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типів</a:t>
            </a:r>
            <a:r>
              <a:rPr lang="ru-RU" sz="1100" b="1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1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аварійних</a:t>
            </a:r>
            <a:r>
              <a:rPr sz="1100" b="1" dirty="0">
                <a:solidFill>
                  <a:srgbClr val="0F172A"/>
                </a:solidFill>
                <a:latin typeface="Aptos"/>
                <a:ea typeface="Aptos"/>
                <a:cs typeface="Aptos"/>
              </a:rPr>
              <a:t> </a:t>
            </a:r>
            <a:r>
              <a:rPr sz="1100" b="1" dirty="0" err="1">
                <a:solidFill>
                  <a:srgbClr val="0F172A"/>
                </a:solidFill>
                <a:latin typeface="Aptos"/>
                <a:ea typeface="Aptos"/>
                <a:cs typeface="Aptos"/>
              </a:rPr>
              <a:t>повідомлень</a:t>
            </a:r>
            <a:endParaRPr sz="1100" b="1" dirty="0">
              <a:solidFill>
                <a:srgbClr val="0F172A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41F94BEB-F4C5-40CE-996B-0A92BF62F60D}"/>
              </a:ext>
            </a:extLst>
          </p:cNvPr>
          <p:cNvSpPr>
            <a:spLocks noGrp="1"/>
          </p:cNvSpPr>
          <p:nvPr/>
        </p:nvSpPr>
        <p:spPr>
          <a:xfrm>
            <a:off x="8429625" y="1714500"/>
            <a:ext cx="3190875" cy="1506126"/>
          </a:xfrm>
          <a:prstGeom prst="roundRect">
            <a:avLst>
              <a:gd name="adj" fmla="val 18966"/>
            </a:avLst>
          </a:prstGeom>
          <a:solidFill>
            <a:srgbClr val="FEF3C7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30A607D-33E9-4C18-AE5D-3A5CB462AF58}"/>
              </a:ext>
            </a:extLst>
          </p:cNvPr>
          <p:cNvSpPr>
            <a:spLocks noGrp="1"/>
          </p:cNvSpPr>
          <p:nvPr/>
        </p:nvSpPr>
        <p:spPr>
          <a:xfrm>
            <a:off x="8639175" y="1885950"/>
            <a:ext cx="27908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Що реалізовано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0DB9C7F-4000-4C88-90A4-63C0DB292288}"/>
              </a:ext>
            </a:extLst>
          </p:cNvPr>
          <p:cNvSpPr>
            <a:spLocks noGrp="1"/>
          </p:cNvSpPr>
          <p:nvPr/>
        </p:nvSpPr>
        <p:spPr>
          <a:xfrm>
            <a:off x="8639175" y="2247900"/>
            <a:ext cx="279082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Облік мостів, сенсорів і вимірювань, REST API, графіки, ролі доступу та автоматичні попередження.</a:t>
            </a:r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AE4F98F1-1E1F-4AAF-BA15-97CA99E755CC}"/>
              </a:ext>
            </a:extLst>
          </p:cNvPr>
          <p:cNvSpPr>
            <a:spLocks noGrp="1"/>
          </p:cNvSpPr>
          <p:nvPr/>
        </p:nvSpPr>
        <p:spPr>
          <a:xfrm>
            <a:off x="571500" y="5238750"/>
            <a:ext cx="3286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Головна панель</a:t>
            </a:r>
          </a:p>
        </p:txBody>
      </p:sp>
      <p:sp>
        <p:nvSpPr>
          <p:cNvPr id="40" name="Прямоугольник 39">
            <a:extLst>
              <a:ext uri="{FF2B5EF4-FFF2-40B4-BE49-F238E27FC236}">
                <a16:creationId xmlns:a16="http://schemas.microsoft.com/office/drawing/2014/main" id="{0ABF92C2-9065-4E02-B26D-EDBF94AA470D}"/>
              </a:ext>
            </a:extLst>
          </p:cNvPr>
          <p:cNvSpPr>
            <a:spLocks noGrp="1"/>
          </p:cNvSpPr>
          <p:nvPr/>
        </p:nvSpPr>
        <p:spPr>
          <a:xfrm>
            <a:off x="4095750" y="5429250"/>
            <a:ext cx="409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Керування сенсорами</a:t>
            </a:r>
          </a:p>
        </p:txBody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001A7984-1447-436A-A52D-92FDA2AB2900}"/>
              </a:ext>
            </a:extLst>
          </p:cNvPr>
          <p:cNvSpPr>
            <a:spLocks noGrp="1"/>
          </p:cNvSpPr>
          <p:nvPr/>
        </p:nvSpPr>
        <p:spPr>
          <a:xfrm>
            <a:off x="8429625" y="5143500"/>
            <a:ext cx="3190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Аварійні події</a:t>
            </a:r>
          </a:p>
        </p:txBody>
      </p:sp>
      <p:pic>
        <p:nvPicPr>
          <p:cNvPr id="70" name="Google Shape;87;p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259" y="5987875"/>
            <a:ext cx="922334" cy="501999"/>
          </a:xfrm>
          <a:prstGeom prst="rect">
            <a:avLst/>
          </a:prstGeom>
          <a:ln w="0">
            <a:noFill/>
          </a:ln>
        </p:spPr>
      </p:pic>
      <p:pic>
        <p:nvPicPr>
          <p:cNvPr id="71" name="Google Shape;65;p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23850" y="122915"/>
            <a:ext cx="2133720" cy="389520"/>
          </a:xfrm>
          <a:prstGeom prst="rect">
            <a:avLst/>
          </a:prstGeom>
          <a:ln w="0">
            <a:noFill/>
          </a:ln>
        </p:spPr>
      </p:pic>
      <p:pic>
        <p:nvPicPr>
          <p:cNvPr id="72" name="Рисунок 71"/>
          <p:cNvPicPr>
            <a:picLocks noChangeAspect="1"/>
          </p:cNvPicPr>
          <p:nvPr/>
        </p:nvPicPr>
        <p:blipFill>
          <a:blip r:embed="rId5"/>
          <a:srcRect t="9340" b="9340"/>
          <a:stretch>
            <a:fillRect/>
          </a:stretch>
        </p:blipFill>
        <p:spPr>
          <a:xfrm>
            <a:off x="781050" y="3025645"/>
            <a:ext cx="2785385" cy="2197360"/>
          </a:xfrm>
          <a:prstGeom prst="roundRect">
            <a:avLst/>
          </a:prstGeom>
        </p:spPr>
      </p:pic>
      <p:pic>
        <p:nvPicPr>
          <p:cNvPr id="73" name="Рисунок 72"/>
          <p:cNvPicPr>
            <a:picLocks noChangeAspect="1"/>
          </p:cNvPicPr>
          <p:nvPr/>
        </p:nvPicPr>
        <p:blipFill rotWithShape="1">
          <a:blip r:embed="rId6"/>
          <a:srcRect t="34566" r="28664" b="34566"/>
          <a:stretch/>
        </p:blipFill>
        <p:spPr>
          <a:xfrm>
            <a:off x="4467018" y="3278544"/>
            <a:ext cx="3353214" cy="2112606"/>
          </a:xfrm>
          <a:prstGeom prst="roundRect">
            <a:avLst/>
          </a:prstGeom>
        </p:spPr>
      </p:pic>
      <p:pic>
        <p:nvPicPr>
          <p:cNvPr id="74" name="Рисунок 73"/>
          <p:cNvPicPr>
            <a:picLocks noChangeAspect="1"/>
          </p:cNvPicPr>
          <p:nvPr/>
        </p:nvPicPr>
        <p:blipFill>
          <a:blip r:embed="rId7"/>
          <a:srcRect t="28963" b="28963"/>
          <a:stretch>
            <a:fillRect/>
          </a:stretch>
        </p:blipFill>
        <p:spPr>
          <a:xfrm>
            <a:off x="8039100" y="3715926"/>
            <a:ext cx="4085170" cy="1427574"/>
          </a:xfrm>
          <a:prstGeom prst="round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11A2BFD-E837-6201-B2C8-0081459A0F1F}"/>
              </a:ext>
            </a:extLst>
          </p:cNvPr>
          <p:cNvSpPr>
            <a:spLocks noGrp="1"/>
          </p:cNvSpPr>
          <p:nvPr/>
        </p:nvSpPr>
        <p:spPr>
          <a:xfrm>
            <a:off x="10982632" y="400050"/>
            <a:ext cx="637868" cy="2476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lang="ru-RU" sz="2400" b="1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2</a:t>
            </a:r>
            <a:endParaRPr sz="2400" b="1" dirty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018F4671-AD79-A269-0B83-8E6C613DAD02}"/>
              </a:ext>
            </a:extLst>
          </p:cNvPr>
          <p:cNvCxnSpPr>
            <a:cxnSpLocks/>
          </p:cNvCxnSpPr>
          <p:nvPr/>
        </p:nvCxnSpPr>
        <p:spPr>
          <a:xfrm>
            <a:off x="11238271" y="776749"/>
            <a:ext cx="382229" cy="0"/>
          </a:xfrm>
          <a:prstGeom prst="line">
            <a:avLst/>
          </a:prstGeom>
          <a:ln w="2857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9979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D1BF17A-A1E7-4F1E-9BC3-50A6F596141C}"/>
              </a:ext>
            </a:extLst>
          </p:cNvPr>
          <p:cNvSpPr>
            <a:spLocks noGrp="1"/>
          </p:cNvSpPr>
          <p:nvPr/>
        </p:nvSpPr>
        <p:spPr>
          <a:xfrm>
            <a:off x="571500" y="6477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Повний шлях моніторингу - від сенсора до статусу</a:t>
            </a: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4A0F1EC2-79C4-4C8B-95A2-A39C7D028F20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2533650" cy="4343400"/>
          </a:xfrm>
          <a:prstGeom prst="roundRect">
            <a:avLst>
              <a:gd name="adj" fmla="val 9023"/>
            </a:avLst>
          </a:prstGeom>
          <a:solidFill>
            <a:srgbClr val="F5F7FB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79F452F8-4679-4F0F-B155-8C69EEE9ED31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361950" cy="3619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B00F538-AC5B-43C2-A33F-40B4A40193D1}"/>
              </a:ext>
            </a:extLst>
          </p:cNvPr>
          <p:cNvSpPr>
            <a:spLocks noGrp="1"/>
          </p:cNvSpPr>
          <p:nvPr/>
        </p:nvSpPr>
        <p:spPr>
          <a:xfrm>
            <a:off x="762000" y="17716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690BD41-0A08-4BD4-B455-884D5D558D6D}"/>
              </a:ext>
            </a:extLst>
          </p:cNvPr>
          <p:cNvSpPr>
            <a:spLocks noGrp="1"/>
          </p:cNvSpPr>
          <p:nvPr/>
        </p:nvSpPr>
        <p:spPr>
          <a:xfrm>
            <a:off x="1238250" y="1714500"/>
            <a:ext cx="1666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Дані сенсора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E552180-629C-4E1F-B93F-8C622EAA5456}"/>
              </a:ext>
            </a:extLst>
          </p:cNvPr>
          <p:cNvSpPr>
            <a:spLocks noGrp="1"/>
          </p:cNvSpPr>
          <p:nvPr/>
        </p:nvSpPr>
        <p:spPr>
          <a:xfrm>
            <a:off x="828675" y="3324225"/>
            <a:ext cx="2076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Емулятор або пристрій надсилає показник.</a:t>
            </a:r>
          </a:p>
        </p:txBody>
      </p:sp>
      <p:sp>
        <p:nvSpPr>
          <p:cNvPr id="17" name="Стрелка вправо 16">
            <a:extLst>
              <a:ext uri="{FF2B5EF4-FFF2-40B4-BE49-F238E27FC236}">
                <a16:creationId xmlns:a16="http://schemas.microsoft.com/office/drawing/2014/main" id="{F5F1EB0F-94B4-467E-9330-E27148CFC482}"/>
              </a:ext>
            </a:extLst>
          </p:cNvPr>
          <p:cNvSpPr>
            <a:spLocks noGrp="1"/>
          </p:cNvSpPr>
          <p:nvPr/>
        </p:nvSpPr>
        <p:spPr>
          <a:xfrm>
            <a:off x="3143250" y="3352800"/>
            <a:ext cx="209550" cy="228600"/>
          </a:xfrm>
          <a:prstGeom prst="rightArrow">
            <a:avLst/>
          </a:prstGeom>
          <a:solidFill>
            <a:srgbClr val="DCE3EE"/>
          </a:solidFill>
          <a:ln w="0">
            <a:noFill/>
            <a:prstDash val="solid"/>
          </a:ln>
        </p:spPr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9ECDA36D-FFDF-4FCD-A9F2-EDAC122B3FE3}"/>
              </a:ext>
            </a:extLst>
          </p:cNvPr>
          <p:cNvSpPr>
            <a:spLocks noGrp="1"/>
          </p:cNvSpPr>
          <p:nvPr/>
        </p:nvSpPr>
        <p:spPr>
          <a:xfrm>
            <a:off x="3371850" y="1524000"/>
            <a:ext cx="2533650" cy="4343400"/>
          </a:xfrm>
          <a:prstGeom prst="roundRect">
            <a:avLst>
              <a:gd name="adj" fmla="val 9023"/>
            </a:avLst>
          </a:prstGeom>
          <a:solidFill>
            <a:srgbClr val="F5F7FB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9" name="Овал 18">
            <a:extLst>
              <a:ext uri="{FF2B5EF4-FFF2-40B4-BE49-F238E27FC236}">
                <a16:creationId xmlns:a16="http://schemas.microsoft.com/office/drawing/2014/main" id="{27E14C01-084E-433B-AEAB-52811B75C8E1}"/>
              </a:ext>
            </a:extLst>
          </p:cNvPr>
          <p:cNvSpPr>
            <a:spLocks noGrp="1"/>
          </p:cNvSpPr>
          <p:nvPr/>
        </p:nvSpPr>
        <p:spPr>
          <a:xfrm>
            <a:off x="3562350" y="1714500"/>
            <a:ext cx="361950" cy="361950"/>
          </a:xfrm>
          <a:prstGeom prst="ellipse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4BD79DF-AAE8-4CC9-B9C8-04860B2C33E8}"/>
              </a:ext>
            </a:extLst>
          </p:cNvPr>
          <p:cNvSpPr>
            <a:spLocks noGrp="1"/>
          </p:cNvSpPr>
          <p:nvPr/>
        </p:nvSpPr>
        <p:spPr>
          <a:xfrm>
            <a:off x="3562350" y="17716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CF7E852-68C5-40C5-85A1-93BC6B8C939C}"/>
              </a:ext>
            </a:extLst>
          </p:cNvPr>
          <p:cNvSpPr>
            <a:spLocks noGrp="1"/>
          </p:cNvSpPr>
          <p:nvPr/>
        </p:nvSpPr>
        <p:spPr>
          <a:xfrm>
            <a:off x="4038600" y="1714500"/>
            <a:ext cx="1666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REST API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3C7E4530-517A-4886-AEC3-3B8CB64B6D14}"/>
              </a:ext>
            </a:extLst>
          </p:cNvPr>
          <p:cNvSpPr>
            <a:spLocks noGrp="1"/>
          </p:cNvSpPr>
          <p:nvPr/>
        </p:nvSpPr>
        <p:spPr>
          <a:xfrm>
            <a:off x="3629025" y="3324225"/>
            <a:ext cx="2076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Маршрут ingest приймає JSON і токен пристрою.</a:t>
            </a:r>
          </a:p>
        </p:txBody>
      </p:sp>
      <p:sp>
        <p:nvSpPr>
          <p:cNvPr id="31" name="Стрелка вправо 30">
            <a:extLst>
              <a:ext uri="{FF2B5EF4-FFF2-40B4-BE49-F238E27FC236}">
                <a16:creationId xmlns:a16="http://schemas.microsoft.com/office/drawing/2014/main" id="{E0B75877-24E9-4977-9406-D23150B4C960}"/>
              </a:ext>
            </a:extLst>
          </p:cNvPr>
          <p:cNvSpPr>
            <a:spLocks noGrp="1"/>
          </p:cNvSpPr>
          <p:nvPr/>
        </p:nvSpPr>
        <p:spPr>
          <a:xfrm>
            <a:off x="5943600" y="3352800"/>
            <a:ext cx="209550" cy="228600"/>
          </a:xfrm>
          <a:prstGeom prst="rightArrow">
            <a:avLst/>
          </a:prstGeom>
          <a:solidFill>
            <a:srgbClr val="DCE3EE"/>
          </a:solidFill>
          <a:ln w="0">
            <a:noFill/>
            <a:prstDash val="solid"/>
          </a:ln>
        </p:spPr>
      </p:sp>
      <p:sp>
        <p:nvSpPr>
          <p:cNvPr id="32" name="Скругленный прямоугольник 31">
            <a:extLst>
              <a:ext uri="{FF2B5EF4-FFF2-40B4-BE49-F238E27FC236}">
                <a16:creationId xmlns:a16="http://schemas.microsoft.com/office/drawing/2014/main" id="{CA5CF265-0E39-48D3-8324-C15B65BD8C78}"/>
              </a:ext>
            </a:extLst>
          </p:cNvPr>
          <p:cNvSpPr>
            <a:spLocks noGrp="1"/>
          </p:cNvSpPr>
          <p:nvPr/>
        </p:nvSpPr>
        <p:spPr>
          <a:xfrm>
            <a:off x="6172200" y="1524000"/>
            <a:ext cx="2533650" cy="4343400"/>
          </a:xfrm>
          <a:prstGeom prst="roundRect">
            <a:avLst>
              <a:gd name="adj" fmla="val 9023"/>
            </a:avLst>
          </a:prstGeom>
          <a:solidFill>
            <a:srgbClr val="F5F7FB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3" name="Овал 32">
            <a:extLst>
              <a:ext uri="{FF2B5EF4-FFF2-40B4-BE49-F238E27FC236}">
                <a16:creationId xmlns:a16="http://schemas.microsoft.com/office/drawing/2014/main" id="{3C0330E2-4A49-47D4-8F94-7FAA0D13B188}"/>
              </a:ext>
            </a:extLst>
          </p:cNvPr>
          <p:cNvSpPr>
            <a:spLocks noGrp="1"/>
          </p:cNvSpPr>
          <p:nvPr/>
        </p:nvSpPr>
        <p:spPr>
          <a:xfrm>
            <a:off x="6362700" y="1714500"/>
            <a:ext cx="361950" cy="361950"/>
          </a:xfrm>
          <a:prstGeom prst="ellipse">
            <a:avLst/>
          </a:prstGeom>
          <a:solidFill>
            <a:srgbClr val="10B981"/>
          </a:solidFill>
          <a:ln w="0">
            <a:noFill/>
            <a:prstDash val="solid"/>
          </a:ln>
        </p:spPr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19607936-D619-44BD-A24C-AB8D6122151A}"/>
              </a:ext>
            </a:extLst>
          </p:cNvPr>
          <p:cNvSpPr>
            <a:spLocks noGrp="1"/>
          </p:cNvSpPr>
          <p:nvPr/>
        </p:nvSpPr>
        <p:spPr>
          <a:xfrm>
            <a:off x="6362700" y="17716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020F8520-15DD-4903-BFC7-B3E1CDEB45C2}"/>
              </a:ext>
            </a:extLst>
          </p:cNvPr>
          <p:cNvSpPr>
            <a:spLocks noGrp="1"/>
          </p:cNvSpPr>
          <p:nvPr/>
        </p:nvSpPr>
        <p:spPr>
          <a:xfrm>
            <a:off x="6838950" y="1714500"/>
            <a:ext cx="1666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Перевірка меж</a:t>
            </a:r>
          </a:p>
        </p:txBody>
      </p:sp>
      <p:sp>
        <p:nvSpPr>
          <p:cNvPr id="42" name="Прямоугольник 41">
            <a:extLst>
              <a:ext uri="{FF2B5EF4-FFF2-40B4-BE49-F238E27FC236}">
                <a16:creationId xmlns:a16="http://schemas.microsoft.com/office/drawing/2014/main" id="{1887D488-02F2-4C5B-9376-296B58947D33}"/>
              </a:ext>
            </a:extLst>
          </p:cNvPr>
          <p:cNvSpPr>
            <a:spLocks noGrp="1"/>
          </p:cNvSpPr>
          <p:nvPr/>
        </p:nvSpPr>
        <p:spPr>
          <a:xfrm>
            <a:off x="6429375" y="3324225"/>
            <a:ext cx="20764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Значення порівнюється з min/max.</a:t>
            </a:r>
          </a:p>
        </p:txBody>
      </p:sp>
      <p:sp>
        <p:nvSpPr>
          <p:cNvPr id="45" name="Стрелка вправо 44">
            <a:extLst>
              <a:ext uri="{FF2B5EF4-FFF2-40B4-BE49-F238E27FC236}">
                <a16:creationId xmlns:a16="http://schemas.microsoft.com/office/drawing/2014/main" id="{714B5064-B775-4E49-BAEA-2FB3944FA149}"/>
              </a:ext>
            </a:extLst>
          </p:cNvPr>
          <p:cNvSpPr>
            <a:spLocks noGrp="1"/>
          </p:cNvSpPr>
          <p:nvPr/>
        </p:nvSpPr>
        <p:spPr>
          <a:xfrm>
            <a:off x="8743950" y="3352800"/>
            <a:ext cx="209550" cy="228600"/>
          </a:xfrm>
          <a:prstGeom prst="rightArrow">
            <a:avLst/>
          </a:prstGeom>
          <a:solidFill>
            <a:srgbClr val="DCE3EE"/>
          </a:solidFill>
          <a:ln w="0">
            <a:noFill/>
            <a:prstDash val="solid"/>
          </a:ln>
        </p:spPr>
      </p:sp>
      <p:sp>
        <p:nvSpPr>
          <p:cNvPr id="46" name="Скругленный прямоугольник 45">
            <a:extLst>
              <a:ext uri="{FF2B5EF4-FFF2-40B4-BE49-F238E27FC236}">
                <a16:creationId xmlns:a16="http://schemas.microsoft.com/office/drawing/2014/main" id="{271FC4B1-CBC1-45EA-A8F4-5E9E6EF6471A}"/>
              </a:ext>
            </a:extLst>
          </p:cNvPr>
          <p:cNvSpPr>
            <a:spLocks noGrp="1"/>
          </p:cNvSpPr>
          <p:nvPr/>
        </p:nvSpPr>
        <p:spPr>
          <a:xfrm>
            <a:off x="8972550" y="1524000"/>
            <a:ext cx="2533650" cy="4343400"/>
          </a:xfrm>
          <a:prstGeom prst="roundRect">
            <a:avLst>
              <a:gd name="adj" fmla="val 9023"/>
            </a:avLst>
          </a:prstGeom>
          <a:solidFill>
            <a:srgbClr val="F5F7FB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47" name="Овал 46">
            <a:extLst>
              <a:ext uri="{FF2B5EF4-FFF2-40B4-BE49-F238E27FC236}">
                <a16:creationId xmlns:a16="http://schemas.microsoft.com/office/drawing/2014/main" id="{6525E22C-0E5B-4AC6-AED3-A462FD583DC2}"/>
              </a:ext>
            </a:extLst>
          </p:cNvPr>
          <p:cNvSpPr>
            <a:spLocks noGrp="1"/>
          </p:cNvSpPr>
          <p:nvPr/>
        </p:nvSpPr>
        <p:spPr>
          <a:xfrm>
            <a:off x="9163050" y="1714500"/>
            <a:ext cx="361950" cy="361950"/>
          </a:xfrm>
          <a:prstGeom prst="ellipse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7548E1BB-9B8B-41E5-92B2-E80AB84E1AB7}"/>
              </a:ext>
            </a:extLst>
          </p:cNvPr>
          <p:cNvSpPr>
            <a:spLocks noGrp="1"/>
          </p:cNvSpPr>
          <p:nvPr/>
        </p:nvSpPr>
        <p:spPr>
          <a:xfrm>
            <a:off x="9163050" y="1771650"/>
            <a:ext cx="3619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9" name="Прямоугольник 48">
            <a:extLst>
              <a:ext uri="{FF2B5EF4-FFF2-40B4-BE49-F238E27FC236}">
                <a16:creationId xmlns:a16="http://schemas.microsoft.com/office/drawing/2014/main" id="{2B16931D-D7E1-412A-B7DE-B2F1E68E256B}"/>
              </a:ext>
            </a:extLst>
          </p:cNvPr>
          <p:cNvSpPr>
            <a:spLocks noGrp="1"/>
          </p:cNvSpPr>
          <p:nvPr/>
        </p:nvSpPr>
        <p:spPr>
          <a:xfrm>
            <a:off x="9639300" y="1714500"/>
            <a:ext cx="1666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Статус</a:t>
            </a:r>
          </a:p>
        </p:txBody>
      </p:sp>
      <p:pic>
        <p:nvPicPr>
          <p:cNvPr id="78" name="Google Shape;87;p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259" y="5987875"/>
            <a:ext cx="922334" cy="501999"/>
          </a:xfrm>
          <a:prstGeom prst="rect">
            <a:avLst/>
          </a:prstGeom>
          <a:ln w="0">
            <a:noFill/>
          </a:ln>
        </p:spPr>
      </p:pic>
      <p:pic>
        <p:nvPicPr>
          <p:cNvPr id="79" name="Google Shape;65;p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23850" y="122915"/>
            <a:ext cx="2133720" cy="389520"/>
          </a:xfrm>
          <a:prstGeom prst="rect">
            <a:avLst/>
          </a:prstGeom>
          <a:ln w="0">
            <a:noFill/>
          </a:ln>
        </p:spPr>
      </p:pic>
      <p:pic>
        <p:nvPicPr>
          <p:cNvPr id="80" name="Рисунок 79"/>
          <p:cNvPicPr>
            <a:picLocks noChangeAspect="1"/>
          </p:cNvPicPr>
          <p:nvPr/>
        </p:nvPicPr>
        <p:blipFill>
          <a:blip r:embed="rId5"/>
          <a:srcRect l="19075" r="19075"/>
          <a:stretch>
            <a:fillRect/>
          </a:stretch>
        </p:blipFill>
        <p:spPr>
          <a:xfrm>
            <a:off x="9039032" y="2185307"/>
            <a:ext cx="2400300" cy="3223330"/>
          </a:xfrm>
          <a:prstGeom prst="round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DA964B7-D892-6BD0-32F7-773C5E6EA34A}"/>
              </a:ext>
            </a:extLst>
          </p:cNvPr>
          <p:cNvSpPr>
            <a:spLocks noGrp="1"/>
          </p:cNvSpPr>
          <p:nvPr/>
        </p:nvSpPr>
        <p:spPr>
          <a:xfrm>
            <a:off x="10982632" y="400050"/>
            <a:ext cx="637868" cy="2476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lang="ru-RU" sz="2400" b="1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3</a:t>
            </a:r>
            <a:endParaRPr sz="2400" b="1" dirty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90BA61BB-EF1D-F9F8-7C38-BD2019001679}"/>
              </a:ext>
            </a:extLst>
          </p:cNvPr>
          <p:cNvCxnSpPr>
            <a:cxnSpLocks/>
          </p:cNvCxnSpPr>
          <p:nvPr/>
        </p:nvCxnSpPr>
        <p:spPr>
          <a:xfrm>
            <a:off x="11238271" y="776749"/>
            <a:ext cx="382229" cy="0"/>
          </a:xfrm>
          <a:prstGeom prst="line">
            <a:avLst/>
          </a:prstGeom>
          <a:ln w="2857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680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BB6C962-F13A-4344-99C8-3835DA7108E7}"/>
              </a:ext>
            </a:extLst>
          </p:cNvPr>
          <p:cNvSpPr>
            <a:spLocks noGrp="1"/>
          </p:cNvSpPr>
          <p:nvPr/>
        </p:nvSpPr>
        <p:spPr>
          <a:xfrm>
            <a:off x="571500" y="6477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Архітектура програмної системи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8A1CEDDE-F868-400A-955B-CFD716CEFDC0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2667000" cy="87630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Скругленный прямоугольник 5">
            <a:extLst>
              <a:ext uri="{FF2B5EF4-FFF2-40B4-BE49-F238E27FC236}">
                <a16:creationId xmlns:a16="http://schemas.microsoft.com/office/drawing/2014/main" id="{72F7C027-8C46-4938-94F3-C6031F001E11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95250" cy="8763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5674A0C-7714-4570-9BF6-A4814FC25AED}"/>
              </a:ext>
            </a:extLst>
          </p:cNvPr>
          <p:cNvSpPr>
            <a:spLocks noGrp="1"/>
          </p:cNvSpPr>
          <p:nvPr/>
        </p:nvSpPr>
        <p:spPr>
          <a:xfrm>
            <a:off x="838200" y="19621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HTML/CSS/JS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DF081FA-96F0-4E2F-8AFF-239F22EDC6E2}"/>
              </a:ext>
            </a:extLst>
          </p:cNvPr>
          <p:cNvSpPr>
            <a:spLocks noGrp="1"/>
          </p:cNvSpPr>
          <p:nvPr/>
        </p:nvSpPr>
        <p:spPr>
          <a:xfrm>
            <a:off x="838200" y="22860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вебінтерфейс і графіки</a:t>
            </a:r>
          </a:p>
        </p:txBody>
      </p:sp>
      <p:sp>
        <p:nvSpPr>
          <p:cNvPr id="9" name="Стрелка вправо 8">
            <a:extLst>
              <a:ext uri="{FF2B5EF4-FFF2-40B4-BE49-F238E27FC236}">
                <a16:creationId xmlns:a16="http://schemas.microsoft.com/office/drawing/2014/main" id="{02922096-5EC1-478B-813D-E425072F170E}"/>
              </a:ext>
            </a:extLst>
          </p:cNvPr>
          <p:cNvSpPr>
            <a:spLocks noGrp="1"/>
          </p:cNvSpPr>
          <p:nvPr/>
        </p:nvSpPr>
        <p:spPr>
          <a:xfrm>
            <a:off x="3371850" y="2133600"/>
            <a:ext cx="342900" cy="228600"/>
          </a:xfrm>
          <a:prstGeom prst="rightArrow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A5BEDE57-E6A2-4F9A-A158-427BFF5C38C3}"/>
              </a:ext>
            </a:extLst>
          </p:cNvPr>
          <p:cNvSpPr>
            <a:spLocks noGrp="1"/>
          </p:cNvSpPr>
          <p:nvPr/>
        </p:nvSpPr>
        <p:spPr>
          <a:xfrm>
            <a:off x="571500" y="2952750"/>
            <a:ext cx="2667000" cy="87630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55C7401B-17A7-4FDF-A55D-D55E226B26E3}"/>
              </a:ext>
            </a:extLst>
          </p:cNvPr>
          <p:cNvSpPr>
            <a:spLocks noGrp="1"/>
          </p:cNvSpPr>
          <p:nvPr/>
        </p:nvSpPr>
        <p:spPr>
          <a:xfrm>
            <a:off x="571500" y="2952750"/>
            <a:ext cx="95250" cy="8763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9A172EE-887B-4AF7-A5B0-685D8D53C58E}"/>
              </a:ext>
            </a:extLst>
          </p:cNvPr>
          <p:cNvSpPr>
            <a:spLocks noGrp="1"/>
          </p:cNvSpPr>
          <p:nvPr/>
        </p:nvSpPr>
        <p:spPr>
          <a:xfrm>
            <a:off x="838200" y="31051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FastAPI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593562C-1CF1-4228-BFD6-2686AB24319D}"/>
              </a:ext>
            </a:extLst>
          </p:cNvPr>
          <p:cNvSpPr>
            <a:spLocks noGrp="1"/>
          </p:cNvSpPr>
          <p:nvPr/>
        </p:nvSpPr>
        <p:spPr>
          <a:xfrm>
            <a:off x="838200" y="34290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REST API та бізнес-логіка</a:t>
            </a:r>
          </a:p>
        </p:txBody>
      </p:sp>
      <p:sp>
        <p:nvSpPr>
          <p:cNvPr id="14" name="Стрелка вправо 13">
            <a:extLst>
              <a:ext uri="{FF2B5EF4-FFF2-40B4-BE49-F238E27FC236}">
                <a16:creationId xmlns:a16="http://schemas.microsoft.com/office/drawing/2014/main" id="{28CB24F2-68B1-4306-B0AB-2188FA16DFC7}"/>
              </a:ext>
            </a:extLst>
          </p:cNvPr>
          <p:cNvSpPr>
            <a:spLocks noGrp="1"/>
          </p:cNvSpPr>
          <p:nvPr/>
        </p:nvSpPr>
        <p:spPr>
          <a:xfrm>
            <a:off x="3371850" y="3276600"/>
            <a:ext cx="342900" cy="228600"/>
          </a:xfrm>
          <a:prstGeom prst="rightArrow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5353F93F-2A43-4E04-87B1-5BB185166877}"/>
              </a:ext>
            </a:extLst>
          </p:cNvPr>
          <p:cNvSpPr>
            <a:spLocks noGrp="1"/>
          </p:cNvSpPr>
          <p:nvPr/>
        </p:nvSpPr>
        <p:spPr>
          <a:xfrm>
            <a:off x="571500" y="4095750"/>
            <a:ext cx="2667000" cy="876300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032C024F-C85B-42B5-A6B8-95077A38FABC}"/>
              </a:ext>
            </a:extLst>
          </p:cNvPr>
          <p:cNvSpPr>
            <a:spLocks noGrp="1"/>
          </p:cNvSpPr>
          <p:nvPr/>
        </p:nvSpPr>
        <p:spPr>
          <a:xfrm>
            <a:off x="571500" y="4095750"/>
            <a:ext cx="95250" cy="87630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9325403-EB28-4390-9325-8A24B8E64852}"/>
              </a:ext>
            </a:extLst>
          </p:cNvPr>
          <p:cNvSpPr>
            <a:spLocks noGrp="1"/>
          </p:cNvSpPr>
          <p:nvPr/>
        </p:nvSpPr>
        <p:spPr>
          <a:xfrm>
            <a:off x="838200" y="424815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6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36BD389-8D4C-4E14-A2F3-82D234AD40EA}"/>
              </a:ext>
            </a:extLst>
          </p:cNvPr>
          <p:cNvSpPr>
            <a:spLocks noGrp="1"/>
          </p:cNvSpPr>
          <p:nvPr/>
        </p:nvSpPr>
        <p:spPr>
          <a:xfrm>
            <a:off x="838200" y="45720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мости, сенсори, вимірювання</a:t>
            </a:r>
          </a:p>
        </p:txBody>
      </p:sp>
      <p:sp>
        <p:nvSpPr>
          <p:cNvPr id="19" name="Стрелка вправо 18">
            <a:extLst>
              <a:ext uri="{FF2B5EF4-FFF2-40B4-BE49-F238E27FC236}">
                <a16:creationId xmlns:a16="http://schemas.microsoft.com/office/drawing/2014/main" id="{B3F5572D-0C2B-44D7-A99D-CEADBC81FB37}"/>
              </a:ext>
            </a:extLst>
          </p:cNvPr>
          <p:cNvSpPr>
            <a:spLocks noGrp="1"/>
          </p:cNvSpPr>
          <p:nvPr/>
        </p:nvSpPr>
        <p:spPr>
          <a:xfrm>
            <a:off x="3371850" y="4419600"/>
            <a:ext cx="342900" cy="228600"/>
          </a:xfrm>
          <a:prstGeom prst="rightArrow">
            <a:avLst/>
          </a:prstGeom>
          <a:solidFill>
            <a:srgbClr val="F59E0B"/>
          </a:solidFill>
          <a:ln w="0">
            <a:noFill/>
            <a:prstDash val="solid"/>
          </a:ln>
        </p:spPr>
      </p:sp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EFFAD192-AE38-4E0A-8F52-501AFA23C2BE}"/>
              </a:ext>
            </a:extLst>
          </p:cNvPr>
          <p:cNvSpPr>
            <a:spLocks noGrp="1"/>
          </p:cNvSpPr>
          <p:nvPr/>
        </p:nvSpPr>
        <p:spPr>
          <a:xfrm>
            <a:off x="3857625" y="1809750"/>
            <a:ext cx="3143250" cy="3162300"/>
          </a:xfrm>
          <a:prstGeom prst="roundRect">
            <a:avLst>
              <a:gd name="adj" fmla="val 7879"/>
            </a:avLst>
          </a:prstGeom>
          <a:solidFill>
            <a:srgbClr val="0B1220"/>
          </a:solidFill>
          <a:ln w="9525">
            <a:solidFill>
              <a:srgbClr val="25385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7">
            <a:scrgbClr r="0" g="0" b="0"/>
          </a:effectRef>
          <a:fontRef idx="major"/>
        </p:style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CB353CC-4B5C-44A1-B09E-62E33C7706E0}"/>
              </a:ext>
            </a:extLst>
          </p:cNvPr>
          <p:cNvSpPr>
            <a:spLocks noGrp="1"/>
          </p:cNvSpPr>
          <p:nvPr/>
        </p:nvSpPr>
        <p:spPr>
          <a:xfrm>
            <a:off x="4162425" y="2095500"/>
            <a:ext cx="2381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Backend</a:t>
            </a: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72D911E6-446D-4B74-A66A-128DE643E5C9}"/>
              </a:ext>
            </a:extLst>
          </p:cNvPr>
          <p:cNvSpPr>
            <a:spLocks noGrp="1"/>
          </p:cNvSpPr>
          <p:nvPr/>
        </p:nvSpPr>
        <p:spPr>
          <a:xfrm>
            <a:off x="4181475" y="2724150"/>
            <a:ext cx="95250" cy="95250"/>
          </a:xfrm>
          <a:prstGeom prst="ellipse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73CBD8AC-2A74-4236-B36B-E76A05302876}"/>
              </a:ext>
            </a:extLst>
          </p:cNvPr>
          <p:cNvSpPr>
            <a:spLocks noGrp="1"/>
          </p:cNvSpPr>
          <p:nvPr/>
        </p:nvSpPr>
        <p:spPr>
          <a:xfrm>
            <a:off x="4371975" y="2667000"/>
            <a:ext cx="2333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D9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3F4"/>
                </a:solidFill>
                <a:latin typeface="Aptos"/>
                <a:ea typeface="Aptos"/>
                <a:cs typeface="Aptos"/>
              </a:rPr>
              <a:t>Маршрути API</a:t>
            </a: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B5EE6908-82BD-473A-8437-59B003D004D3}"/>
              </a:ext>
            </a:extLst>
          </p:cNvPr>
          <p:cNvSpPr>
            <a:spLocks noGrp="1"/>
          </p:cNvSpPr>
          <p:nvPr/>
        </p:nvSpPr>
        <p:spPr>
          <a:xfrm>
            <a:off x="4181475" y="3048000"/>
            <a:ext cx="95250" cy="95250"/>
          </a:xfrm>
          <a:prstGeom prst="ellipse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609D00CD-2202-4B74-925C-5E0917C8B7BC}"/>
              </a:ext>
            </a:extLst>
          </p:cNvPr>
          <p:cNvSpPr>
            <a:spLocks noGrp="1"/>
          </p:cNvSpPr>
          <p:nvPr/>
        </p:nvSpPr>
        <p:spPr>
          <a:xfrm>
            <a:off x="4371975" y="2990850"/>
            <a:ext cx="2333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D9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3F4"/>
                </a:solidFill>
                <a:latin typeface="Aptos"/>
                <a:ea typeface="Aptos"/>
                <a:cs typeface="Aptos"/>
              </a:rPr>
              <a:t>Авторизація та ролі</a:t>
            </a: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CF0F0F6E-D8DC-48A0-B5E1-6B1DF199E4C7}"/>
              </a:ext>
            </a:extLst>
          </p:cNvPr>
          <p:cNvSpPr>
            <a:spLocks noGrp="1"/>
          </p:cNvSpPr>
          <p:nvPr/>
        </p:nvSpPr>
        <p:spPr>
          <a:xfrm>
            <a:off x="4181475" y="3371850"/>
            <a:ext cx="95250" cy="95250"/>
          </a:xfrm>
          <a:prstGeom prst="ellipse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D1239CE-6171-4FEB-ACDF-8A1A1BDB49F2}"/>
              </a:ext>
            </a:extLst>
          </p:cNvPr>
          <p:cNvSpPr>
            <a:spLocks noGrp="1"/>
          </p:cNvSpPr>
          <p:nvPr/>
        </p:nvSpPr>
        <p:spPr>
          <a:xfrm>
            <a:off x="4371975" y="3314700"/>
            <a:ext cx="2333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D9E3F4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9E3F4"/>
                </a:solidFill>
                <a:latin typeface="Aptos"/>
                <a:ea typeface="Aptos"/>
                <a:cs typeface="Aptos"/>
              </a:rPr>
              <a:t>Валідація даних</a:t>
            </a: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A61EF807-22DC-4157-8CA3-E4D9A562790E}"/>
              </a:ext>
            </a:extLst>
          </p:cNvPr>
          <p:cNvSpPr>
            <a:spLocks noGrp="1"/>
          </p:cNvSpPr>
          <p:nvPr/>
        </p:nvSpPr>
        <p:spPr>
          <a:xfrm>
            <a:off x="4181475" y="369570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64332CD5-8ECA-480F-B746-B3C08DAF6C5B}"/>
              </a:ext>
            </a:extLst>
          </p:cNvPr>
          <p:cNvSpPr>
            <a:spLocks noGrp="1"/>
          </p:cNvSpPr>
          <p:nvPr/>
        </p:nvSpPr>
        <p:spPr>
          <a:xfrm>
            <a:off x="4371975" y="3638550"/>
            <a:ext cx="2438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D9E3F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D9E3F4"/>
                </a:solidFill>
                <a:latin typeface="Aptos"/>
                <a:ea typeface="Aptos"/>
                <a:cs typeface="Aptos"/>
              </a:rPr>
              <a:t>Обробка показників</a:t>
            </a:r>
          </a:p>
        </p:txBody>
      </p:sp>
      <p:sp>
        <p:nvSpPr>
          <p:cNvPr id="32" name="Овал 31">
            <a:extLst>
              <a:ext uri="{FF2B5EF4-FFF2-40B4-BE49-F238E27FC236}">
                <a16:creationId xmlns:a16="http://schemas.microsoft.com/office/drawing/2014/main" id="{7D701EDD-2E42-479C-87CE-F87D3DAFD428}"/>
              </a:ext>
            </a:extLst>
          </p:cNvPr>
          <p:cNvSpPr>
            <a:spLocks noGrp="1"/>
          </p:cNvSpPr>
          <p:nvPr/>
        </p:nvSpPr>
        <p:spPr>
          <a:xfrm>
            <a:off x="4181475" y="4019550"/>
            <a:ext cx="95250" cy="95250"/>
          </a:xfrm>
          <a:prstGeom prst="ellipse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5A927D20-BF4F-4545-AE70-C7E7DB31413E}"/>
              </a:ext>
            </a:extLst>
          </p:cNvPr>
          <p:cNvSpPr>
            <a:spLocks noGrp="1"/>
          </p:cNvSpPr>
          <p:nvPr/>
        </p:nvSpPr>
        <p:spPr>
          <a:xfrm>
            <a:off x="4371975" y="3962400"/>
            <a:ext cx="2333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D9E3F4"/>
                </a:solidFill>
                <a:latin typeface="Aptos"/>
                <a:ea typeface="Aptos"/>
                <a:cs typeface="Aptos"/>
              </a:defRPr>
            </a:pPr>
            <a:r>
              <a:rPr sz="1125">
                <a:solidFill>
                  <a:srgbClr val="D9E3F4"/>
                </a:solidFill>
                <a:latin typeface="Aptos"/>
                <a:ea typeface="Aptos"/>
                <a:cs typeface="Aptos"/>
              </a:rPr>
              <a:t>Аварійні статуси</a:t>
            </a:r>
          </a:p>
        </p:txBody>
      </p:sp>
      <p:sp>
        <p:nvSpPr>
          <p:cNvPr id="34" name="Стрелка вправо 33">
            <a:extLst>
              <a:ext uri="{FF2B5EF4-FFF2-40B4-BE49-F238E27FC236}">
                <a16:creationId xmlns:a16="http://schemas.microsoft.com/office/drawing/2014/main" id="{B973C2A2-B02D-40CC-931B-C43576CA08C3}"/>
              </a:ext>
            </a:extLst>
          </p:cNvPr>
          <p:cNvSpPr>
            <a:spLocks noGrp="1"/>
          </p:cNvSpPr>
          <p:nvPr/>
        </p:nvSpPr>
        <p:spPr>
          <a:xfrm>
            <a:off x="7181850" y="3143250"/>
            <a:ext cx="438150" cy="228600"/>
          </a:xfrm>
          <a:prstGeom prst="rightArrow">
            <a:avLst/>
          </a:prstGeom>
          <a:solidFill>
            <a:srgbClr val="2563EB"/>
          </a:solidFill>
          <a:ln w="0">
            <a:noFill/>
            <a:prstDash val="solid"/>
          </a:ln>
        </p:spPr>
      </p:sp>
      <p:sp>
        <p:nvSpPr>
          <p:cNvPr id="35" name="Скругленный прямоугольник 34">
            <a:extLst>
              <a:ext uri="{FF2B5EF4-FFF2-40B4-BE49-F238E27FC236}">
                <a16:creationId xmlns:a16="http://schemas.microsoft.com/office/drawing/2014/main" id="{76BDCDEA-2B55-4F09-8AF5-A427C3EF730F}"/>
              </a:ext>
            </a:extLst>
          </p:cNvPr>
          <p:cNvSpPr>
            <a:spLocks noGrp="1"/>
          </p:cNvSpPr>
          <p:nvPr/>
        </p:nvSpPr>
        <p:spPr>
          <a:xfrm>
            <a:off x="7810500" y="1714500"/>
            <a:ext cx="3810000" cy="3371850"/>
          </a:xfrm>
          <a:prstGeom prst="roundRect">
            <a:avLst>
              <a:gd name="adj" fmla="val 7345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02055662-B9FD-40D9-BCA3-34C870158878}"/>
              </a:ext>
            </a:extLst>
          </p:cNvPr>
          <p:cNvSpPr>
            <a:spLocks noGrp="1"/>
          </p:cNvSpPr>
          <p:nvPr/>
        </p:nvSpPr>
        <p:spPr>
          <a:xfrm>
            <a:off x="8096250" y="198120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REST API</a:t>
            </a:r>
          </a:p>
        </p:txBody>
      </p:sp>
      <p:sp>
        <p:nvSpPr>
          <p:cNvPr id="38" name="Скругленный прямоугольник 37">
            <a:extLst>
              <a:ext uri="{FF2B5EF4-FFF2-40B4-BE49-F238E27FC236}">
                <a16:creationId xmlns:a16="http://schemas.microsoft.com/office/drawing/2014/main" id="{BBB2C5AF-3E70-428A-A855-6435836DC5FD}"/>
              </a:ext>
            </a:extLst>
          </p:cNvPr>
          <p:cNvSpPr>
            <a:spLocks noGrp="1"/>
          </p:cNvSpPr>
          <p:nvPr/>
        </p:nvSpPr>
        <p:spPr>
          <a:xfrm>
            <a:off x="8096250" y="3067050"/>
            <a:ext cx="1428750" cy="3048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0">
            <a:noFill/>
            <a:prstDash val="solid"/>
          </a:ln>
        </p:spPr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D00C1045-CF5B-41A9-9579-1A08EAA0F3F5}"/>
              </a:ext>
            </a:extLst>
          </p:cNvPr>
          <p:cNvSpPr>
            <a:spLocks noGrp="1"/>
          </p:cNvSpPr>
          <p:nvPr/>
        </p:nvSpPr>
        <p:spPr>
          <a:xfrm>
            <a:off x="8191500" y="31146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/auth</a:t>
            </a:r>
          </a:p>
        </p:txBody>
      </p:sp>
      <p:sp>
        <p:nvSpPr>
          <p:cNvPr id="40" name="Скругленный прямоугольник 39">
            <a:extLst>
              <a:ext uri="{FF2B5EF4-FFF2-40B4-BE49-F238E27FC236}">
                <a16:creationId xmlns:a16="http://schemas.microsoft.com/office/drawing/2014/main" id="{1A8EBACB-45AC-459A-A1BD-399F014DAAA4}"/>
              </a:ext>
            </a:extLst>
          </p:cNvPr>
          <p:cNvSpPr>
            <a:spLocks noGrp="1"/>
          </p:cNvSpPr>
          <p:nvPr/>
        </p:nvSpPr>
        <p:spPr>
          <a:xfrm>
            <a:off x="9715500" y="3067050"/>
            <a:ext cx="1428750" cy="304800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 w="0">
            <a:noFill/>
            <a:prstDash val="solid"/>
          </a:ln>
        </p:spPr>
      </p:sp>
      <p:sp>
        <p:nvSpPr>
          <p:cNvPr id="41" name="Прямоугольник 40">
            <a:extLst>
              <a:ext uri="{FF2B5EF4-FFF2-40B4-BE49-F238E27FC236}">
                <a16:creationId xmlns:a16="http://schemas.microsoft.com/office/drawing/2014/main" id="{E26A37C1-5080-4F9D-9C5B-46B0CAFAD6A2}"/>
              </a:ext>
            </a:extLst>
          </p:cNvPr>
          <p:cNvSpPr>
            <a:spLocks noGrp="1"/>
          </p:cNvSpPr>
          <p:nvPr/>
        </p:nvSpPr>
        <p:spPr>
          <a:xfrm>
            <a:off x="9810750" y="31146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087D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D91"/>
                </a:solidFill>
                <a:latin typeface="Aptos"/>
                <a:ea typeface="Aptos"/>
                <a:cs typeface="Aptos"/>
              </a:rPr>
              <a:t>/bridges</a:t>
            </a:r>
          </a:p>
        </p:txBody>
      </p:sp>
      <p:sp>
        <p:nvSpPr>
          <p:cNvPr id="42" name="Скругленный прямоугольник 41">
            <a:extLst>
              <a:ext uri="{FF2B5EF4-FFF2-40B4-BE49-F238E27FC236}">
                <a16:creationId xmlns:a16="http://schemas.microsoft.com/office/drawing/2014/main" id="{FAA7968B-991A-46D7-9B33-04FEC70EBF88}"/>
              </a:ext>
            </a:extLst>
          </p:cNvPr>
          <p:cNvSpPr>
            <a:spLocks noGrp="1"/>
          </p:cNvSpPr>
          <p:nvPr/>
        </p:nvSpPr>
        <p:spPr>
          <a:xfrm>
            <a:off x="8096250" y="3619500"/>
            <a:ext cx="1428750" cy="304800"/>
          </a:xfrm>
          <a:prstGeom prst="roundRect">
            <a:avLst>
              <a:gd name="adj" fmla="val 50000"/>
            </a:avLst>
          </a:prstGeom>
          <a:solidFill>
            <a:srgbClr val="D1FAE5"/>
          </a:solidFill>
          <a:ln w="0">
            <a:noFill/>
            <a:prstDash val="solid"/>
          </a:ln>
        </p:spPr>
      </p:sp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58BC629D-2312-44CD-9968-4EAA48B9CDF4}"/>
              </a:ext>
            </a:extLst>
          </p:cNvPr>
          <p:cNvSpPr>
            <a:spLocks noGrp="1"/>
          </p:cNvSpPr>
          <p:nvPr/>
        </p:nvSpPr>
        <p:spPr>
          <a:xfrm>
            <a:off x="8191500" y="36671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087A59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A59"/>
                </a:solidFill>
                <a:latin typeface="Aptos"/>
                <a:ea typeface="Aptos"/>
                <a:cs typeface="Aptos"/>
              </a:rPr>
              <a:t>/sensors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44C089C1-3C13-4112-B687-343D55D5A2FD}"/>
              </a:ext>
            </a:extLst>
          </p:cNvPr>
          <p:cNvSpPr>
            <a:spLocks noGrp="1"/>
          </p:cNvSpPr>
          <p:nvPr/>
        </p:nvSpPr>
        <p:spPr>
          <a:xfrm>
            <a:off x="9715500" y="3619500"/>
            <a:ext cx="1428750" cy="3048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0">
            <a:noFill/>
            <a:prstDash val="solid"/>
          </a:ln>
        </p:spPr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9D2CE7C8-F6C3-45BC-8DD7-65D754887E0F}"/>
              </a:ext>
            </a:extLst>
          </p:cNvPr>
          <p:cNvSpPr>
            <a:spLocks noGrp="1"/>
          </p:cNvSpPr>
          <p:nvPr/>
        </p:nvSpPr>
        <p:spPr>
          <a:xfrm>
            <a:off x="9810750" y="366712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9A5D0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A5D00"/>
                </a:solidFill>
                <a:latin typeface="Aptos"/>
                <a:ea typeface="Aptos"/>
                <a:cs typeface="Aptos"/>
              </a:rPr>
              <a:t>/readings</a:t>
            </a:r>
          </a:p>
        </p:txBody>
      </p:sp>
      <p:sp>
        <p:nvSpPr>
          <p:cNvPr id="46" name="Скругленный прямоугольник 45">
            <a:extLst>
              <a:ext uri="{FF2B5EF4-FFF2-40B4-BE49-F238E27FC236}">
                <a16:creationId xmlns:a16="http://schemas.microsoft.com/office/drawing/2014/main" id="{A4268332-83E9-40D0-9553-B853C23EDA6F}"/>
              </a:ext>
            </a:extLst>
          </p:cNvPr>
          <p:cNvSpPr>
            <a:spLocks noGrp="1"/>
          </p:cNvSpPr>
          <p:nvPr/>
        </p:nvSpPr>
        <p:spPr>
          <a:xfrm>
            <a:off x="8096250" y="4171950"/>
            <a:ext cx="1428750" cy="3048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0">
            <a:noFill/>
            <a:prstDash val="solid"/>
          </a:ln>
        </p:spPr>
      </p:sp>
      <p:sp>
        <p:nvSpPr>
          <p:cNvPr id="47" name="Прямоугольник 46">
            <a:extLst>
              <a:ext uri="{FF2B5EF4-FFF2-40B4-BE49-F238E27FC236}">
                <a16:creationId xmlns:a16="http://schemas.microsoft.com/office/drawing/2014/main" id="{F7997C04-099C-4167-B517-ADF007D0AF11}"/>
              </a:ext>
            </a:extLst>
          </p:cNvPr>
          <p:cNvSpPr>
            <a:spLocks noGrp="1"/>
          </p:cNvSpPr>
          <p:nvPr/>
        </p:nvSpPr>
        <p:spPr>
          <a:xfrm>
            <a:off x="8191500" y="4219575"/>
            <a:ext cx="1238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B4231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2318"/>
                </a:solidFill>
                <a:latin typeface="Aptos"/>
                <a:ea typeface="Aptos"/>
                <a:cs typeface="Aptos"/>
              </a:rPr>
              <a:t>/alerts</a:t>
            </a:r>
          </a:p>
        </p:txBody>
      </p:sp>
      <p:sp>
        <p:nvSpPr>
          <p:cNvPr id="50" name="Скругленный прямоугольник 49">
            <a:extLst>
              <a:ext uri="{FF2B5EF4-FFF2-40B4-BE49-F238E27FC236}">
                <a16:creationId xmlns:a16="http://schemas.microsoft.com/office/drawing/2014/main" id="{9A3DAEA8-CC68-4C9D-A799-F2751A6614FA}"/>
              </a:ext>
            </a:extLst>
          </p:cNvPr>
          <p:cNvSpPr>
            <a:spLocks noGrp="1"/>
          </p:cNvSpPr>
          <p:nvPr/>
        </p:nvSpPr>
        <p:spPr>
          <a:xfrm>
            <a:off x="3857625" y="5219700"/>
            <a:ext cx="3143250" cy="990600"/>
          </a:xfrm>
          <a:prstGeom prst="roundRect">
            <a:avLst>
              <a:gd name="adj" fmla="val 21154"/>
            </a:avLst>
          </a:prstGeom>
          <a:solidFill>
            <a:srgbClr val="D1FAE5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2" name="Прямоугольник 51">
            <a:extLst>
              <a:ext uri="{FF2B5EF4-FFF2-40B4-BE49-F238E27FC236}">
                <a16:creationId xmlns:a16="http://schemas.microsoft.com/office/drawing/2014/main" id="{F526B53C-B3F0-48AD-9929-52CB1DCCD213}"/>
              </a:ext>
            </a:extLst>
          </p:cNvPr>
          <p:cNvSpPr>
            <a:spLocks noGrp="1"/>
          </p:cNvSpPr>
          <p:nvPr/>
        </p:nvSpPr>
        <p:spPr>
          <a:xfrm>
            <a:off x="4067175" y="5391150"/>
            <a:ext cx="2743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Ролі доступу</a:t>
            </a:r>
          </a:p>
        </p:txBody>
      </p:sp>
      <p:sp>
        <p:nvSpPr>
          <p:cNvPr id="53" name="Прямоугольник 52">
            <a:extLst>
              <a:ext uri="{FF2B5EF4-FFF2-40B4-BE49-F238E27FC236}">
                <a16:creationId xmlns:a16="http://schemas.microsoft.com/office/drawing/2014/main" id="{A65FB447-5EE1-4D76-91FF-CBF5F810A944}"/>
              </a:ext>
            </a:extLst>
          </p:cNvPr>
          <p:cNvSpPr>
            <a:spLocks noGrp="1"/>
          </p:cNvSpPr>
          <p:nvPr/>
        </p:nvSpPr>
        <p:spPr>
          <a:xfrm>
            <a:off x="4067175" y="5753100"/>
            <a:ext cx="274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Адміністратор, інспектор і користувач мають різні дозволи.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31F13547-DAAF-4559-B96D-3189C5F7C57E}"/>
              </a:ext>
            </a:extLst>
          </p:cNvPr>
          <p:cNvSpPr>
            <a:spLocks noGrp="1"/>
          </p:cNvSpPr>
          <p:nvPr/>
        </p:nvSpPr>
        <p:spPr>
          <a:xfrm>
            <a:off x="7810500" y="5219700"/>
            <a:ext cx="3810000" cy="990600"/>
          </a:xfrm>
          <a:prstGeom prst="roundRect">
            <a:avLst>
              <a:gd name="adj" fmla="val 21154"/>
            </a:avLst>
          </a:prstGeom>
          <a:solidFill>
            <a:srgbClr val="DBEAFE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6" name="Прямоугольник 55">
            <a:extLst>
              <a:ext uri="{FF2B5EF4-FFF2-40B4-BE49-F238E27FC236}">
                <a16:creationId xmlns:a16="http://schemas.microsoft.com/office/drawing/2014/main" id="{4C645821-CCDC-40C3-B116-3B3DAF321C17}"/>
              </a:ext>
            </a:extLst>
          </p:cNvPr>
          <p:cNvSpPr>
            <a:spLocks noGrp="1"/>
          </p:cNvSpPr>
          <p:nvPr/>
        </p:nvSpPr>
        <p:spPr>
          <a:xfrm>
            <a:off x="8020050" y="5391150"/>
            <a:ext cx="3409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Єдина логіка</a:t>
            </a:r>
          </a:p>
        </p:txBody>
      </p:sp>
      <p:sp>
        <p:nvSpPr>
          <p:cNvPr id="57" name="Прямоугольник 56">
            <a:extLst>
              <a:ext uri="{FF2B5EF4-FFF2-40B4-BE49-F238E27FC236}">
                <a16:creationId xmlns:a16="http://schemas.microsoft.com/office/drawing/2014/main" id="{1E87A08C-B6FC-4D13-876E-BFE8571E79F8}"/>
              </a:ext>
            </a:extLst>
          </p:cNvPr>
          <p:cNvSpPr>
            <a:spLocks noGrp="1"/>
          </p:cNvSpPr>
          <p:nvPr/>
        </p:nvSpPr>
        <p:spPr>
          <a:xfrm>
            <a:off x="8020050" y="5753100"/>
            <a:ext cx="3409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Клієнт працює через контрольований API.</a:t>
            </a:r>
          </a:p>
        </p:txBody>
      </p:sp>
      <p:pic>
        <p:nvPicPr>
          <p:cNvPr id="110" name="Google Shape;87;p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8376" y="6196081"/>
            <a:ext cx="922334" cy="501999"/>
          </a:xfrm>
          <a:prstGeom prst="rect">
            <a:avLst/>
          </a:prstGeom>
          <a:ln w="0">
            <a:noFill/>
          </a:ln>
        </p:spPr>
      </p:pic>
      <p:pic>
        <p:nvPicPr>
          <p:cNvPr id="111" name="Google Shape;65;p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23850" y="122915"/>
            <a:ext cx="2133720" cy="389520"/>
          </a:xfrm>
          <a:prstGeom prst="rect">
            <a:avLst/>
          </a:prstGeom>
          <a:ln w="0">
            <a:noFill/>
          </a:ln>
        </p:spPr>
      </p:pic>
      <p:pic>
        <p:nvPicPr>
          <p:cNvPr id="112" name="Рисунок 11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05664" y="5189781"/>
            <a:ext cx="1831354" cy="974238"/>
          </a:xfrm>
          <a:prstGeom prst="round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3BC2063-5426-10DE-3B43-15F5FF5AF90F}"/>
              </a:ext>
            </a:extLst>
          </p:cNvPr>
          <p:cNvSpPr>
            <a:spLocks noGrp="1"/>
          </p:cNvSpPr>
          <p:nvPr/>
        </p:nvSpPr>
        <p:spPr>
          <a:xfrm>
            <a:off x="10982632" y="400050"/>
            <a:ext cx="637868" cy="2476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lang="ru-RU" sz="2400" b="1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4</a:t>
            </a:r>
            <a:endParaRPr sz="2400" b="1" dirty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F3F97AB1-7797-9664-4733-892B0B1AC1BC}"/>
              </a:ext>
            </a:extLst>
          </p:cNvPr>
          <p:cNvCxnSpPr>
            <a:cxnSpLocks/>
          </p:cNvCxnSpPr>
          <p:nvPr/>
        </p:nvCxnSpPr>
        <p:spPr>
          <a:xfrm>
            <a:off x="11238271" y="776749"/>
            <a:ext cx="382229" cy="0"/>
          </a:xfrm>
          <a:prstGeom prst="line">
            <a:avLst/>
          </a:prstGeom>
          <a:ln w="2857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1766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BB6C962-F13A-4344-99C8-3835DA7108E7}"/>
              </a:ext>
            </a:extLst>
          </p:cNvPr>
          <p:cNvSpPr>
            <a:spLocks noGrp="1"/>
          </p:cNvSpPr>
          <p:nvPr/>
        </p:nvSpPr>
        <p:spPr>
          <a:xfrm>
            <a:off x="571500" y="6477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Архітектура програмної системи</a:t>
            </a:r>
          </a:p>
        </p:txBody>
      </p:sp>
      <p:pic>
        <p:nvPicPr>
          <p:cNvPr id="110" name="Google Shape;87;p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68376" y="6196081"/>
            <a:ext cx="922334" cy="501999"/>
          </a:xfrm>
          <a:prstGeom prst="rect">
            <a:avLst/>
          </a:prstGeom>
          <a:ln w="0">
            <a:noFill/>
          </a:ln>
        </p:spPr>
      </p:pic>
      <p:pic>
        <p:nvPicPr>
          <p:cNvPr id="111" name="Google Shape;65;p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23850" y="122915"/>
            <a:ext cx="2133720" cy="389520"/>
          </a:xfrm>
          <a:prstGeom prst="rect">
            <a:avLst/>
          </a:prstGeom>
          <a:ln w="0">
            <a:noFill/>
          </a:ln>
        </p:spPr>
      </p:pic>
      <p:pic>
        <p:nvPicPr>
          <p:cNvPr id="112" name="Рисунок 11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390710" y="1475105"/>
            <a:ext cx="8464973" cy="4503170"/>
          </a:xfrm>
          <a:prstGeom prst="round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625040A-E10E-8F78-F1BF-18A4F2308DC7}"/>
              </a:ext>
            </a:extLst>
          </p:cNvPr>
          <p:cNvSpPr>
            <a:spLocks noGrp="1"/>
          </p:cNvSpPr>
          <p:nvPr/>
        </p:nvSpPr>
        <p:spPr>
          <a:xfrm>
            <a:off x="10982632" y="400050"/>
            <a:ext cx="637868" cy="2476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lang="ru-RU" sz="2400" b="1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5</a:t>
            </a:r>
            <a:endParaRPr sz="2400" b="1" dirty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C02F175E-26D5-ACF2-6950-6674830B4A8C}"/>
              </a:ext>
            </a:extLst>
          </p:cNvPr>
          <p:cNvCxnSpPr>
            <a:cxnSpLocks/>
          </p:cNvCxnSpPr>
          <p:nvPr/>
        </p:nvCxnSpPr>
        <p:spPr>
          <a:xfrm>
            <a:off x="11238271" y="776749"/>
            <a:ext cx="382229" cy="0"/>
          </a:xfrm>
          <a:prstGeom prst="line">
            <a:avLst/>
          </a:prstGeom>
          <a:ln w="2857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5365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196AEE3-A533-4661-BB3B-C837CB0D922E}"/>
              </a:ext>
            </a:extLst>
          </p:cNvPr>
          <p:cNvSpPr>
            <a:spLocks noGrp="1"/>
          </p:cNvSpPr>
          <p:nvPr/>
        </p:nvSpPr>
        <p:spPr>
          <a:xfrm>
            <a:off x="571500" y="6477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Проєктування бази даних і REST API</a:t>
            </a: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5C777DB5-33BA-4BC8-A91C-9A42AC4CF255}"/>
              </a:ext>
            </a:extLst>
          </p:cNvPr>
          <p:cNvSpPr>
            <a:spLocks noGrp="1"/>
          </p:cNvSpPr>
          <p:nvPr/>
        </p:nvSpPr>
        <p:spPr>
          <a:xfrm>
            <a:off x="8572500" y="1528471"/>
            <a:ext cx="3048000" cy="1143000"/>
          </a:xfrm>
          <a:prstGeom prst="roundRect">
            <a:avLst>
              <a:gd name="adj" fmla="val 18333"/>
            </a:avLst>
          </a:prstGeom>
          <a:solidFill>
            <a:srgbClr val="DBEAFE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BC35E4B-DF72-4AEE-A4AE-D9F4AF041191}"/>
              </a:ext>
            </a:extLst>
          </p:cNvPr>
          <p:cNvSpPr>
            <a:spLocks noGrp="1"/>
          </p:cNvSpPr>
          <p:nvPr/>
        </p:nvSpPr>
        <p:spPr>
          <a:xfrm>
            <a:off x="8782050" y="169545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6 таблиць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CAF338B9-A068-4970-B96C-A9EBFC3087B7}"/>
              </a:ext>
            </a:extLst>
          </p:cNvPr>
          <p:cNvSpPr>
            <a:spLocks noGrp="1"/>
          </p:cNvSpPr>
          <p:nvPr/>
        </p:nvSpPr>
        <p:spPr>
          <a:xfrm>
            <a:off x="8772525" y="2004721"/>
            <a:ext cx="2647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bridges, sensors, readings, alerts, users та inspectors.</a:t>
            </a: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8CB1AC77-8B08-4EE2-A8E2-8ED9316D7793}"/>
              </a:ext>
            </a:extLst>
          </p:cNvPr>
          <p:cNvSpPr>
            <a:spLocks noGrp="1"/>
          </p:cNvSpPr>
          <p:nvPr/>
        </p:nvSpPr>
        <p:spPr>
          <a:xfrm>
            <a:off x="8572500" y="2857500"/>
            <a:ext cx="3048000" cy="1143000"/>
          </a:xfrm>
          <a:prstGeom prst="roundRect">
            <a:avLst>
              <a:gd name="adj" fmla="val 18333"/>
            </a:avLst>
          </a:prstGeom>
          <a:solidFill>
            <a:srgbClr val="CFFAFE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77240CC-A663-4F67-8094-A163DC79BE4F}"/>
              </a:ext>
            </a:extLst>
          </p:cNvPr>
          <p:cNvSpPr>
            <a:spLocks noGrp="1"/>
          </p:cNvSpPr>
          <p:nvPr/>
        </p:nvSpPr>
        <p:spPr>
          <a:xfrm>
            <a:off x="8782050" y="302895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Зв'язки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E0094DC9-D9A2-4992-8866-FE498EC14410}"/>
              </a:ext>
            </a:extLst>
          </p:cNvPr>
          <p:cNvSpPr>
            <a:spLocks noGrp="1"/>
          </p:cNvSpPr>
          <p:nvPr/>
        </p:nvSpPr>
        <p:spPr>
          <a:xfrm>
            <a:off x="8782050" y="3390900"/>
            <a:ext cx="2647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Сенсор прив'язаний до мосту та відповідального інспектора.</a:t>
            </a:r>
          </a:p>
        </p:txBody>
      </p:sp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4E669AD5-1CFB-4129-82A6-253957922E6B}"/>
              </a:ext>
            </a:extLst>
          </p:cNvPr>
          <p:cNvSpPr>
            <a:spLocks noGrp="1"/>
          </p:cNvSpPr>
          <p:nvPr/>
        </p:nvSpPr>
        <p:spPr>
          <a:xfrm>
            <a:off x="8572500" y="4191000"/>
            <a:ext cx="3048000" cy="1143000"/>
          </a:xfrm>
          <a:prstGeom prst="roundRect">
            <a:avLst>
              <a:gd name="adj" fmla="val 18333"/>
            </a:avLst>
          </a:prstGeom>
          <a:solidFill>
            <a:srgbClr val="D1FAE5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4820D01-DE72-4E0E-9F6F-EE70BC26DF3A}"/>
              </a:ext>
            </a:extLst>
          </p:cNvPr>
          <p:cNvSpPr>
            <a:spLocks noGrp="1"/>
          </p:cNvSpPr>
          <p:nvPr/>
        </p:nvSpPr>
        <p:spPr>
          <a:xfrm>
            <a:off x="8782050" y="436245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Контроль меж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AE4A8776-AD59-4221-8A0C-10DEC583BC37}"/>
              </a:ext>
            </a:extLst>
          </p:cNvPr>
          <p:cNvSpPr>
            <a:spLocks noGrp="1"/>
          </p:cNvSpPr>
          <p:nvPr/>
        </p:nvSpPr>
        <p:spPr>
          <a:xfrm>
            <a:off x="8782050" y="4724400"/>
            <a:ext cx="26479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min/max, рівні warning/danger і статус мосту.</a:t>
            </a:r>
          </a:p>
        </p:txBody>
      </p:sp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8F40ACA8-A116-47C5-8857-001F64BEEB83}"/>
              </a:ext>
            </a:extLst>
          </p:cNvPr>
          <p:cNvSpPr>
            <a:spLocks noGrp="1"/>
          </p:cNvSpPr>
          <p:nvPr/>
        </p:nvSpPr>
        <p:spPr>
          <a:xfrm>
            <a:off x="914400" y="5715000"/>
            <a:ext cx="2286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553A20E1-A32F-4D0F-8930-37770941899D}"/>
              </a:ext>
            </a:extLst>
          </p:cNvPr>
          <p:cNvSpPr>
            <a:spLocks noGrp="1"/>
          </p:cNvSpPr>
          <p:nvPr/>
        </p:nvSpPr>
        <p:spPr>
          <a:xfrm>
            <a:off x="3486150" y="5715000"/>
            <a:ext cx="2286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66A07436-B246-4DEA-AA54-F8E5594A9B8C}"/>
              </a:ext>
            </a:extLst>
          </p:cNvPr>
          <p:cNvSpPr>
            <a:spLocks noGrp="1"/>
          </p:cNvSpPr>
          <p:nvPr/>
        </p:nvSpPr>
        <p:spPr>
          <a:xfrm>
            <a:off x="6057900" y="5715000"/>
            <a:ext cx="2286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pic>
        <p:nvPicPr>
          <p:cNvPr id="53" name="Google Shape;87;p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259" y="5987875"/>
            <a:ext cx="922334" cy="501999"/>
          </a:xfrm>
          <a:prstGeom prst="rect">
            <a:avLst/>
          </a:prstGeom>
          <a:ln w="0">
            <a:noFill/>
          </a:ln>
        </p:spPr>
      </p:pic>
      <p:pic>
        <p:nvPicPr>
          <p:cNvPr id="54" name="Google Shape;65;p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23850" y="122915"/>
            <a:ext cx="2133720" cy="389520"/>
          </a:xfrm>
          <a:prstGeom prst="rect">
            <a:avLst/>
          </a:prstGeom>
          <a:ln w="0">
            <a:noFill/>
          </a:ln>
        </p:spPr>
      </p:pic>
      <p:pic>
        <p:nvPicPr>
          <p:cNvPr id="55" name="Рисунок 54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750616" y="1585612"/>
            <a:ext cx="5229110" cy="3610576"/>
          </a:xfrm>
          <a:prstGeom prst="round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301E685-2872-2E5D-AA17-2B1A90446EDB}"/>
              </a:ext>
            </a:extLst>
          </p:cNvPr>
          <p:cNvSpPr>
            <a:spLocks noGrp="1"/>
          </p:cNvSpPr>
          <p:nvPr/>
        </p:nvSpPr>
        <p:spPr>
          <a:xfrm>
            <a:off x="10982632" y="400050"/>
            <a:ext cx="637868" cy="2476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lang="ru-RU" sz="2400" b="1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6</a:t>
            </a:r>
            <a:endParaRPr sz="2400" b="1" dirty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254AA592-3D1D-EB78-F664-801FD581E28A}"/>
              </a:ext>
            </a:extLst>
          </p:cNvPr>
          <p:cNvCxnSpPr>
            <a:cxnSpLocks/>
          </p:cNvCxnSpPr>
          <p:nvPr/>
        </p:nvCxnSpPr>
        <p:spPr>
          <a:xfrm>
            <a:off x="11238271" y="776749"/>
            <a:ext cx="382229" cy="0"/>
          </a:xfrm>
          <a:prstGeom prst="line">
            <a:avLst/>
          </a:prstGeom>
          <a:ln w="2857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822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DDFA08C-1B2F-4684-8C97-B9F59EDBBDDF}"/>
              </a:ext>
            </a:extLst>
          </p:cNvPr>
          <p:cNvSpPr>
            <a:spLocks noGrp="1"/>
          </p:cNvSpPr>
          <p:nvPr/>
        </p:nvSpPr>
        <p:spPr>
          <a:xfrm>
            <a:off x="571500" y="6477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Вебінтерфейс моніторингу стану мостів</a:t>
            </a:r>
          </a:p>
        </p:txBody>
      </p:sp>
      <p:pic>
        <p:nvPicPr>
          <p:cNvPr id="14" name="Google Shape;87;p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30485" y="6083126"/>
            <a:ext cx="922334" cy="501999"/>
          </a:xfrm>
          <a:prstGeom prst="rect">
            <a:avLst/>
          </a:prstGeom>
          <a:ln w="0">
            <a:noFill/>
          </a:ln>
        </p:spPr>
      </p:pic>
      <p:pic>
        <p:nvPicPr>
          <p:cNvPr id="15" name="Google Shape;65;p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23850" y="122915"/>
            <a:ext cx="2133720" cy="389520"/>
          </a:xfrm>
          <a:prstGeom prst="rect">
            <a:avLst/>
          </a:prstGeom>
          <a:ln w="0">
            <a:noFill/>
          </a:ln>
        </p:spPr>
      </p:pic>
      <p:pic>
        <p:nvPicPr>
          <p:cNvPr id="16" name="Рисунок 15"/>
          <p:cNvPicPr>
            <a:picLocks noChangeAspect="1"/>
          </p:cNvPicPr>
          <p:nvPr/>
        </p:nvPicPr>
        <p:blipFill>
          <a:blip r:embed="rId5"/>
          <a:srcRect t="31989" b="31989"/>
          <a:stretch>
            <a:fillRect/>
          </a:stretch>
        </p:blipFill>
        <p:spPr>
          <a:xfrm>
            <a:off x="304053" y="1314449"/>
            <a:ext cx="5696697" cy="1990725"/>
          </a:xfrm>
          <a:prstGeom prst="roundRect">
            <a:avLst>
              <a:gd name="adj" fmla="val 0"/>
            </a:avLst>
          </a:prstGeom>
        </p:spPr>
      </p:pic>
      <p:pic>
        <p:nvPicPr>
          <p:cNvPr id="17" name="Рисунок 16"/>
          <p:cNvPicPr>
            <a:picLocks noChangeAspect="1"/>
          </p:cNvPicPr>
          <p:nvPr/>
        </p:nvPicPr>
        <p:blipFill>
          <a:blip r:embed="rId6"/>
          <a:srcRect t="28097" b="28097"/>
          <a:stretch>
            <a:fillRect/>
          </a:stretch>
        </p:blipFill>
        <p:spPr>
          <a:xfrm>
            <a:off x="1152819" y="3367865"/>
            <a:ext cx="4552361" cy="2903570"/>
          </a:xfrm>
          <a:prstGeom prst="roundRect">
            <a:avLst>
              <a:gd name="adj" fmla="val 0"/>
            </a:avLst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7"/>
          <a:srcRect l="7674" r="7674"/>
          <a:stretch>
            <a:fillRect/>
          </a:stretch>
        </p:blipFill>
        <p:spPr>
          <a:xfrm>
            <a:off x="6235568" y="1562100"/>
            <a:ext cx="4713905" cy="4625084"/>
          </a:xfrm>
          <a:prstGeom prst="roundRect">
            <a:avLst>
              <a:gd name="adj" fmla="val 0"/>
            </a:avLst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8D78048-BD40-5D79-1F9B-9DB9EA40E3E0}"/>
              </a:ext>
            </a:extLst>
          </p:cNvPr>
          <p:cNvSpPr>
            <a:spLocks noGrp="1"/>
          </p:cNvSpPr>
          <p:nvPr/>
        </p:nvSpPr>
        <p:spPr>
          <a:xfrm>
            <a:off x="10982632" y="400050"/>
            <a:ext cx="637868" cy="2476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lang="ru-RU" sz="2400" b="1" dirty="0">
                <a:solidFill>
                  <a:schemeClr val="bg2"/>
                </a:solidFill>
                <a:latin typeface="Aptos"/>
                <a:ea typeface="Aptos"/>
                <a:cs typeface="Aptos"/>
              </a:rPr>
              <a:t>7</a:t>
            </a:r>
            <a:endParaRPr sz="2400" b="1" dirty="0">
              <a:solidFill>
                <a:schemeClr val="bg2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A27096D0-C353-0F68-2BFC-1033C226EFEA}"/>
              </a:ext>
            </a:extLst>
          </p:cNvPr>
          <p:cNvCxnSpPr>
            <a:cxnSpLocks/>
          </p:cNvCxnSpPr>
          <p:nvPr/>
        </p:nvCxnSpPr>
        <p:spPr>
          <a:xfrm>
            <a:off x="11238271" y="776749"/>
            <a:ext cx="382229" cy="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27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0790227-7671-4B89-B429-E9B26EB84900}"/>
              </a:ext>
            </a:extLst>
          </p:cNvPr>
          <p:cNvSpPr>
            <a:spLocks noGrp="1"/>
          </p:cNvSpPr>
          <p:nvPr/>
        </p:nvSpPr>
        <p:spPr>
          <a:xfrm>
            <a:off x="571500" y="6477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Робочі екрани: сенсори та аварійні повідомлення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E10D056A-413A-48C5-A4BE-B5F412C4D817}"/>
              </a:ext>
            </a:extLst>
          </p:cNvPr>
          <p:cNvSpPr>
            <a:spLocks noGrp="1"/>
          </p:cNvSpPr>
          <p:nvPr/>
        </p:nvSpPr>
        <p:spPr>
          <a:xfrm>
            <a:off x="571500" y="38862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Керування сенсорами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B2819BB5-B47D-483D-8244-29BCCC904A24}"/>
              </a:ext>
            </a:extLst>
          </p:cNvPr>
          <p:cNvSpPr>
            <a:spLocks noGrp="1"/>
          </p:cNvSpPr>
          <p:nvPr/>
        </p:nvSpPr>
        <p:spPr>
          <a:xfrm>
            <a:off x="571500" y="4248150"/>
            <a:ext cx="495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Пошук, фільтри, межі вимірювання та активність пристроїв.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A669DD6C-24FE-48B2-8556-5C0736A4CA0C}"/>
              </a:ext>
            </a:extLst>
          </p:cNvPr>
          <p:cNvSpPr>
            <a:spLocks noGrp="1"/>
          </p:cNvSpPr>
          <p:nvPr/>
        </p:nvSpPr>
        <p:spPr>
          <a:xfrm>
            <a:off x="6286500" y="38862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Аварійні повідомлення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3AF33EC7-FB0F-4A06-90AB-DC8295B99DE3}"/>
              </a:ext>
            </a:extLst>
          </p:cNvPr>
          <p:cNvSpPr>
            <a:spLocks noGrp="1"/>
          </p:cNvSpPr>
          <p:nvPr/>
        </p:nvSpPr>
        <p:spPr>
          <a:xfrm>
            <a:off x="6286500" y="4248150"/>
            <a:ext cx="495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Рівень warning/danger, статус події та закриття інциденту.</a:t>
            </a:r>
          </a:p>
        </p:txBody>
      </p:sp>
      <p:pic>
        <p:nvPicPr>
          <p:cNvPr id="48" name="Google Shape;87;p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259" y="5987875"/>
            <a:ext cx="922334" cy="501999"/>
          </a:xfrm>
          <a:prstGeom prst="rect">
            <a:avLst/>
          </a:prstGeom>
          <a:ln w="0">
            <a:noFill/>
          </a:ln>
        </p:spPr>
      </p:pic>
      <p:pic>
        <p:nvPicPr>
          <p:cNvPr id="49" name="Google Shape;65;p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23850" y="122915"/>
            <a:ext cx="2133720" cy="389520"/>
          </a:xfrm>
          <a:prstGeom prst="rect">
            <a:avLst/>
          </a:prstGeom>
          <a:ln w="0">
            <a:noFill/>
          </a:ln>
        </p:spPr>
      </p:pic>
      <p:pic>
        <p:nvPicPr>
          <p:cNvPr id="50" name="Рисунок 49"/>
          <p:cNvPicPr>
            <a:picLocks noChangeAspect="1"/>
          </p:cNvPicPr>
          <p:nvPr/>
        </p:nvPicPr>
        <p:blipFill rotWithShape="1">
          <a:blip r:embed="rId5"/>
          <a:srcRect t="39581" r="29869" b="39581"/>
          <a:stretch/>
        </p:blipFill>
        <p:spPr>
          <a:xfrm>
            <a:off x="237622" y="1678040"/>
            <a:ext cx="4992381" cy="2159793"/>
          </a:xfrm>
          <a:prstGeom prst="roundRect">
            <a:avLst/>
          </a:prstGeom>
        </p:spPr>
      </p:pic>
      <p:pic>
        <p:nvPicPr>
          <p:cNvPr id="51" name="Рисунок 50"/>
          <p:cNvPicPr>
            <a:picLocks noChangeAspect="1"/>
          </p:cNvPicPr>
          <p:nvPr/>
        </p:nvPicPr>
        <p:blipFill rotWithShape="1">
          <a:blip r:embed="rId6"/>
          <a:srcRect t="25697" b="52559"/>
          <a:stretch/>
        </p:blipFill>
        <p:spPr>
          <a:xfrm>
            <a:off x="5230003" y="2698925"/>
            <a:ext cx="6390497" cy="1154116"/>
          </a:xfrm>
          <a:prstGeom prst="round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41ACC6B-158D-8922-A263-62ED144EF2B1}"/>
              </a:ext>
            </a:extLst>
          </p:cNvPr>
          <p:cNvSpPr>
            <a:spLocks noGrp="1"/>
          </p:cNvSpPr>
          <p:nvPr/>
        </p:nvSpPr>
        <p:spPr>
          <a:xfrm>
            <a:off x="10982632" y="400050"/>
            <a:ext cx="637868" cy="2476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lang="ru-RU" sz="2400" b="1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8</a:t>
            </a:r>
            <a:endParaRPr sz="2400" b="1" dirty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F877729E-D19A-E88B-E555-96A54C0730C9}"/>
              </a:ext>
            </a:extLst>
          </p:cNvPr>
          <p:cNvCxnSpPr>
            <a:cxnSpLocks/>
          </p:cNvCxnSpPr>
          <p:nvPr/>
        </p:nvCxnSpPr>
        <p:spPr>
          <a:xfrm>
            <a:off x="11238271" y="776749"/>
            <a:ext cx="382229" cy="0"/>
          </a:xfrm>
          <a:prstGeom prst="line">
            <a:avLst/>
          </a:prstGeom>
          <a:ln w="2857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2259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81311C2-EBA9-44AB-954C-82D1E8770C53}"/>
              </a:ext>
            </a:extLst>
          </p:cNvPr>
          <p:cNvSpPr>
            <a:spLocks noGrp="1"/>
          </p:cNvSpPr>
          <p:nvPr/>
        </p:nvSpPr>
        <p:spPr>
          <a:xfrm>
            <a:off x="571500" y="6477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Експериментальна перевірка системи</a:t>
            </a:r>
          </a:p>
        </p:txBody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F24F234D-7606-4B6E-B834-32C17FB234AF}"/>
              </a:ext>
            </a:extLst>
          </p:cNvPr>
          <p:cNvSpPr>
            <a:spLocks noGrp="1"/>
          </p:cNvSpPr>
          <p:nvPr/>
        </p:nvSpPr>
        <p:spPr>
          <a:xfrm>
            <a:off x="571500" y="1638300"/>
            <a:ext cx="7239000" cy="3924300"/>
          </a:xfrm>
          <a:prstGeom prst="roundRect">
            <a:avLst>
              <a:gd name="adj" fmla="val 5825"/>
            </a:avLst>
          </a:prstGeom>
          <a:solidFill>
            <a:srgbClr val="F5F7FB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graphicFrame>
        <p:nvGraphicFramePr>
          <p:cNvPr id="29" name="Chart"/>
          <p:cNvGraphicFramePr/>
          <p:nvPr/>
        </p:nvGraphicFramePr>
        <p:xfrm>
          <a:off x="876300" y="1981200"/>
          <a:ext cx="66675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4FB7C49A-EF42-4C38-9813-277C3164784B}"/>
              </a:ext>
            </a:extLst>
          </p:cNvPr>
          <p:cNvSpPr>
            <a:spLocks noGrp="1"/>
          </p:cNvSpPr>
          <p:nvPr/>
        </p:nvSpPr>
        <p:spPr>
          <a:xfrm>
            <a:off x="8191500" y="1638300"/>
            <a:ext cx="3429000" cy="781050"/>
          </a:xfrm>
          <a:prstGeom prst="roundRect">
            <a:avLst>
              <a:gd name="adj" fmla="val 24390"/>
            </a:avLst>
          </a:prstGeom>
          <a:solidFill>
            <a:srgbClr val="CFFAFE"/>
          </a:solidFill>
          <a:ln w="0">
            <a:noFill/>
            <a:prstDash val="solid"/>
          </a:ln>
        </p:spPr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2E9A168-9314-4E4E-8BE2-987FAE12D1D6}"/>
              </a:ext>
            </a:extLst>
          </p:cNvPr>
          <p:cNvSpPr>
            <a:spLocks noGrp="1"/>
          </p:cNvSpPr>
          <p:nvPr/>
        </p:nvSpPr>
        <p:spPr>
          <a:xfrm>
            <a:off x="8382000" y="179070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75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100 %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9EB1445-7C71-47FD-AF34-36A03BA37452}"/>
              </a:ext>
            </a:extLst>
          </p:cNvPr>
          <p:cNvSpPr>
            <a:spLocks noGrp="1"/>
          </p:cNvSpPr>
          <p:nvPr/>
        </p:nvSpPr>
        <p:spPr>
          <a:xfrm>
            <a:off x="9696450" y="18669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успішність</a:t>
            </a: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6D1750A1-670F-4D41-8A65-E4F30731E861}"/>
              </a:ext>
            </a:extLst>
          </p:cNvPr>
          <p:cNvSpPr>
            <a:spLocks noGrp="1"/>
          </p:cNvSpPr>
          <p:nvPr/>
        </p:nvSpPr>
        <p:spPr>
          <a:xfrm>
            <a:off x="8191500" y="2590800"/>
            <a:ext cx="3429000" cy="781050"/>
          </a:xfrm>
          <a:prstGeom prst="roundRect">
            <a:avLst>
              <a:gd name="adj" fmla="val 24390"/>
            </a:avLst>
          </a:prstGeom>
          <a:solidFill>
            <a:srgbClr val="DBEAFE"/>
          </a:solidFill>
          <a:ln w="0">
            <a:noFill/>
            <a:prstDash val="solid"/>
          </a:ln>
        </p:spPr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CB924CCE-81B5-4002-90CA-28FC574250A5}"/>
              </a:ext>
            </a:extLst>
          </p:cNvPr>
          <p:cNvSpPr>
            <a:spLocks noGrp="1"/>
          </p:cNvSpPr>
          <p:nvPr/>
        </p:nvSpPr>
        <p:spPr>
          <a:xfrm>
            <a:off x="8382000" y="274320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75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4000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78315FC-2FAB-42EB-8DBA-D660701E324D}"/>
              </a:ext>
            </a:extLst>
          </p:cNvPr>
          <p:cNvSpPr>
            <a:spLocks noGrp="1"/>
          </p:cNvSpPr>
          <p:nvPr/>
        </p:nvSpPr>
        <p:spPr>
          <a:xfrm>
            <a:off x="9696450" y="28194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HTTP-запитів</a:t>
            </a: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A0C10D5C-0FD6-4E59-95A1-D8622A03AC95}"/>
              </a:ext>
            </a:extLst>
          </p:cNvPr>
          <p:cNvSpPr>
            <a:spLocks noGrp="1"/>
          </p:cNvSpPr>
          <p:nvPr/>
        </p:nvSpPr>
        <p:spPr>
          <a:xfrm>
            <a:off x="8191500" y="3543300"/>
            <a:ext cx="3429000" cy="781050"/>
          </a:xfrm>
          <a:prstGeom prst="roundRect">
            <a:avLst>
              <a:gd name="adj" fmla="val 24390"/>
            </a:avLst>
          </a:prstGeom>
          <a:solidFill>
            <a:srgbClr val="D1FAE5"/>
          </a:solidFill>
          <a:ln w="0">
            <a:noFill/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C6A8FD6-E1AE-42CE-A545-9CD56FB953D8}"/>
              </a:ext>
            </a:extLst>
          </p:cNvPr>
          <p:cNvSpPr>
            <a:spLocks noGrp="1"/>
          </p:cNvSpPr>
          <p:nvPr/>
        </p:nvSpPr>
        <p:spPr>
          <a:xfrm>
            <a:off x="8382000" y="369570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75" b="1">
                <a:solidFill>
                  <a:srgbClr val="10B981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0B981"/>
                </a:solidFill>
                <a:latin typeface="Aptos"/>
                <a:ea typeface="Aptos"/>
                <a:cs typeface="Aptos"/>
              </a:rPr>
              <a:t>225,7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8A42C91-90C3-4810-94A3-979C4E925392}"/>
              </a:ext>
            </a:extLst>
          </p:cNvPr>
          <p:cNvSpPr>
            <a:spLocks noGrp="1"/>
          </p:cNvSpPr>
          <p:nvPr/>
        </p:nvSpPr>
        <p:spPr>
          <a:xfrm>
            <a:off x="9696450" y="37719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пік запитів/с</a:t>
            </a:r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6EAB6134-BE55-46ED-903F-88D1C4748A7F}"/>
              </a:ext>
            </a:extLst>
          </p:cNvPr>
          <p:cNvSpPr>
            <a:spLocks noGrp="1"/>
          </p:cNvSpPr>
          <p:nvPr/>
        </p:nvSpPr>
        <p:spPr>
          <a:xfrm>
            <a:off x="8191500" y="4495800"/>
            <a:ext cx="3429000" cy="781050"/>
          </a:xfrm>
          <a:prstGeom prst="roundRect">
            <a:avLst>
              <a:gd name="adj" fmla="val 24390"/>
            </a:avLst>
          </a:prstGeom>
          <a:solidFill>
            <a:srgbClr val="FEF3C7"/>
          </a:solidFill>
          <a:ln w="0">
            <a:noFill/>
            <a:prstDash val="solid"/>
          </a:ln>
        </p:spPr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C6817E22-5153-4ADA-A543-9853C2143DB4}"/>
              </a:ext>
            </a:extLst>
          </p:cNvPr>
          <p:cNvSpPr>
            <a:spLocks noGrp="1"/>
          </p:cNvSpPr>
          <p:nvPr/>
        </p:nvSpPr>
        <p:spPr>
          <a:xfrm>
            <a:off x="8382000" y="4648200"/>
            <a:ext cx="1190625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75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C20E8EA-0D72-43F4-A3B3-ABDC865053C5}"/>
              </a:ext>
            </a:extLst>
          </p:cNvPr>
          <p:cNvSpPr>
            <a:spLocks noGrp="1"/>
          </p:cNvSpPr>
          <p:nvPr/>
        </p:nvSpPr>
        <p:spPr>
          <a:xfrm>
            <a:off x="9696450" y="4724400"/>
            <a:ext cx="1619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оптимум потоків</a:t>
            </a: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0F293026-39DB-458C-AD0D-96420101CB4A}"/>
              </a:ext>
            </a:extLst>
          </p:cNvPr>
          <p:cNvSpPr>
            <a:spLocks noGrp="1"/>
          </p:cNvSpPr>
          <p:nvPr/>
        </p:nvSpPr>
        <p:spPr>
          <a:xfrm>
            <a:off x="8191500" y="5467350"/>
            <a:ext cx="3429000" cy="781050"/>
          </a:xfrm>
          <a:prstGeom prst="roundRect">
            <a:avLst>
              <a:gd name="adj" fmla="val 26829"/>
            </a:avLst>
          </a:prstGeom>
          <a:solidFill>
            <a:srgbClr val="0B1220"/>
          </a:solidFill>
          <a:ln w="9525">
            <a:solidFill>
              <a:srgbClr val="25385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CC0E3E2-B0D4-4F84-9E84-CCFB19FC514E}"/>
              </a:ext>
            </a:extLst>
          </p:cNvPr>
          <p:cNvSpPr>
            <a:spLocks noGrp="1"/>
          </p:cNvSpPr>
          <p:nvPr/>
        </p:nvSpPr>
        <p:spPr>
          <a:xfrm>
            <a:off x="8420100" y="5600700"/>
            <a:ext cx="2952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Висновок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D084A27A-EC3B-4CC2-82D8-8BF548D26C0B}"/>
              </a:ext>
            </a:extLst>
          </p:cNvPr>
          <p:cNvSpPr>
            <a:spLocks noGrp="1"/>
          </p:cNvSpPr>
          <p:nvPr/>
        </p:nvSpPr>
        <p:spPr>
          <a:xfrm>
            <a:off x="8420100" y="5905500"/>
            <a:ext cx="2952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125" b="0">
                <a:solidFill>
                  <a:srgbClr val="C7D2E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2E6"/>
                </a:solidFill>
                <a:latin typeface="Aptos"/>
                <a:ea typeface="Aptos"/>
                <a:cs typeface="Aptos"/>
              </a:rPr>
              <a:t>Пік на 25 потоках; далі зростає p95.</a:t>
            </a:r>
          </a:p>
        </p:txBody>
      </p:sp>
      <p:pic>
        <p:nvPicPr>
          <p:cNvPr id="45" name="Google Shape;87;p16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7259" y="5987875"/>
            <a:ext cx="922334" cy="501999"/>
          </a:xfrm>
          <a:prstGeom prst="rect">
            <a:avLst/>
          </a:prstGeom>
          <a:ln w="0">
            <a:noFill/>
          </a:ln>
        </p:spPr>
      </p:pic>
      <p:pic>
        <p:nvPicPr>
          <p:cNvPr id="46" name="Google Shape;65;p1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23850" y="122915"/>
            <a:ext cx="2133720" cy="389520"/>
          </a:xfrm>
          <a:prstGeom prst="rect">
            <a:avLst/>
          </a:prstGeom>
          <a:ln w="0">
            <a:noFill/>
          </a:ln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D1971E6-D71D-9B33-FF1A-DC780E50522B}"/>
              </a:ext>
            </a:extLst>
          </p:cNvPr>
          <p:cNvSpPr>
            <a:spLocks noGrp="1"/>
          </p:cNvSpPr>
          <p:nvPr/>
        </p:nvSpPr>
        <p:spPr>
          <a:xfrm>
            <a:off x="10982632" y="400050"/>
            <a:ext cx="637868" cy="2476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lang="ru-RU" sz="2400" b="1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9</a:t>
            </a:r>
            <a:endParaRPr sz="2400" b="1" dirty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F416EE2D-224A-C888-BEAC-D41B9DE064AC}"/>
              </a:ext>
            </a:extLst>
          </p:cNvPr>
          <p:cNvCxnSpPr>
            <a:cxnSpLocks/>
          </p:cNvCxnSpPr>
          <p:nvPr/>
        </p:nvCxnSpPr>
        <p:spPr>
          <a:xfrm>
            <a:off x="11238271" y="776749"/>
            <a:ext cx="382229" cy="0"/>
          </a:xfrm>
          <a:prstGeom prst="line">
            <a:avLst/>
          </a:prstGeom>
          <a:ln w="2857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38734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7ABFCEE-2A6E-47F2-8F26-82E95913A32E}"/>
              </a:ext>
            </a:extLst>
          </p:cNvPr>
          <p:cNvSpPr>
            <a:spLocks noGrp="1"/>
          </p:cNvSpPr>
          <p:nvPr/>
        </p:nvSpPr>
        <p:spPr>
          <a:xfrm>
            <a:off x="571500" y="6477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Адаптивний вебінтерфейс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E596199-2E4E-4166-9788-911763F2C58C}"/>
              </a:ext>
            </a:extLst>
          </p:cNvPr>
          <p:cNvSpPr>
            <a:spLocks noGrp="1"/>
          </p:cNvSpPr>
          <p:nvPr/>
        </p:nvSpPr>
        <p:spPr>
          <a:xfrm>
            <a:off x="10982632" y="400050"/>
            <a:ext cx="637868" cy="2476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lang="ru-RU" sz="2400" b="1" dirty="0">
                <a:solidFill>
                  <a:srgbClr val="64748B"/>
                </a:solidFill>
                <a:latin typeface="Aptos"/>
                <a:ea typeface="Aptos"/>
                <a:cs typeface="Aptos"/>
              </a:rPr>
              <a:t>10</a:t>
            </a:r>
            <a:endParaRPr sz="2400" b="1" dirty="0">
              <a:solidFill>
                <a:srgbClr val="64748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515996CB-3539-4555-A964-B79BD8C95165}"/>
              </a:ext>
            </a:extLst>
          </p:cNvPr>
          <p:cNvSpPr>
            <a:spLocks noGrp="1"/>
          </p:cNvSpPr>
          <p:nvPr/>
        </p:nvSpPr>
        <p:spPr>
          <a:xfrm>
            <a:off x="571500" y="1504950"/>
            <a:ext cx="2571750" cy="9525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Скругленный прямоугольник 4">
            <a:extLst>
              <a:ext uri="{FF2B5EF4-FFF2-40B4-BE49-F238E27FC236}">
                <a16:creationId xmlns:a16="http://schemas.microsoft.com/office/drawing/2014/main" id="{52EB6F2D-67F8-44FE-B006-2987F791372F}"/>
              </a:ext>
            </a:extLst>
          </p:cNvPr>
          <p:cNvSpPr>
            <a:spLocks noGrp="1"/>
          </p:cNvSpPr>
          <p:nvPr/>
        </p:nvSpPr>
        <p:spPr>
          <a:xfrm>
            <a:off x="742950" y="1676400"/>
            <a:ext cx="1009650" cy="3048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535F630-9A2F-4245-AB61-A0704BED8282}"/>
              </a:ext>
            </a:extLst>
          </p:cNvPr>
          <p:cNvSpPr>
            <a:spLocks noGrp="1"/>
          </p:cNvSpPr>
          <p:nvPr/>
        </p:nvSpPr>
        <p:spPr>
          <a:xfrm>
            <a:off x="838200" y="17240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HTML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090FA25-5D05-4E9C-932A-D53F0C05B135}"/>
              </a:ext>
            </a:extLst>
          </p:cNvPr>
          <p:cNvSpPr>
            <a:spLocks noGrp="1"/>
          </p:cNvSpPr>
          <p:nvPr/>
        </p:nvSpPr>
        <p:spPr>
          <a:xfrm>
            <a:off x="742950" y="209550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контейнер застосунку</a:t>
            </a:r>
          </a:p>
        </p:txBody>
      </p: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A9441645-BC6B-4201-84C4-C6655DC6A334}"/>
              </a:ext>
            </a:extLst>
          </p:cNvPr>
          <p:cNvSpPr>
            <a:spLocks noGrp="1"/>
          </p:cNvSpPr>
          <p:nvPr/>
        </p:nvSpPr>
        <p:spPr>
          <a:xfrm>
            <a:off x="3429000" y="1504950"/>
            <a:ext cx="2571750" cy="9525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8E15DC3-6226-440F-86C3-D77CB240B2F6}"/>
              </a:ext>
            </a:extLst>
          </p:cNvPr>
          <p:cNvSpPr>
            <a:spLocks noGrp="1"/>
          </p:cNvSpPr>
          <p:nvPr/>
        </p:nvSpPr>
        <p:spPr>
          <a:xfrm>
            <a:off x="3600450" y="1676400"/>
            <a:ext cx="1009650" cy="304800"/>
          </a:xfrm>
          <a:prstGeom prst="roundRect">
            <a:avLst>
              <a:gd name="adj" fmla="val 50000"/>
            </a:avLst>
          </a:prstGeom>
          <a:solidFill>
            <a:srgbClr val="CFFAFE"/>
          </a:solidFill>
          <a:ln w="0">
            <a:noFill/>
            <a:prstDash val="solid"/>
          </a:ln>
        </p:spPr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D796152-6495-4DC1-BB18-50214350DC32}"/>
              </a:ext>
            </a:extLst>
          </p:cNvPr>
          <p:cNvSpPr>
            <a:spLocks noGrp="1"/>
          </p:cNvSpPr>
          <p:nvPr/>
        </p:nvSpPr>
        <p:spPr>
          <a:xfrm>
            <a:off x="3695700" y="17240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JavaScript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05BF428-1879-49F8-93CC-7794821333D0}"/>
              </a:ext>
            </a:extLst>
          </p:cNvPr>
          <p:cNvSpPr>
            <a:spLocks noGrp="1"/>
          </p:cNvSpPr>
          <p:nvPr/>
        </p:nvSpPr>
        <p:spPr>
          <a:xfrm>
            <a:off x="3600450" y="209550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fetch-запити, стан, Canvas</a:t>
            </a: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C8DA339B-2868-4B51-8032-488B405452CD}"/>
              </a:ext>
            </a:extLst>
          </p:cNvPr>
          <p:cNvSpPr>
            <a:spLocks noGrp="1"/>
          </p:cNvSpPr>
          <p:nvPr/>
        </p:nvSpPr>
        <p:spPr>
          <a:xfrm>
            <a:off x="6286500" y="1504950"/>
            <a:ext cx="2571750" cy="9525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60B6D889-E8FD-4521-BAF1-477E5696FB02}"/>
              </a:ext>
            </a:extLst>
          </p:cNvPr>
          <p:cNvSpPr>
            <a:spLocks noGrp="1"/>
          </p:cNvSpPr>
          <p:nvPr/>
        </p:nvSpPr>
        <p:spPr>
          <a:xfrm>
            <a:off x="6457950" y="1676400"/>
            <a:ext cx="1009650" cy="3048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0">
            <a:noFill/>
            <a:prstDash val="solid"/>
          </a:ln>
        </p:spPr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9774F2D-2FE4-4FB8-8DBA-66429D9F72EB}"/>
              </a:ext>
            </a:extLst>
          </p:cNvPr>
          <p:cNvSpPr>
            <a:spLocks noGrp="1"/>
          </p:cNvSpPr>
          <p:nvPr/>
        </p:nvSpPr>
        <p:spPr>
          <a:xfrm>
            <a:off x="6553200" y="1724025"/>
            <a:ext cx="8191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90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CSS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F857C113-6D04-480C-8D93-95DEE30A3A0E}"/>
              </a:ext>
            </a:extLst>
          </p:cNvPr>
          <p:cNvSpPr>
            <a:spLocks noGrp="1"/>
          </p:cNvSpPr>
          <p:nvPr/>
        </p:nvSpPr>
        <p:spPr>
          <a:xfrm>
            <a:off x="6457950" y="2095500"/>
            <a:ext cx="2190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адаптивна сітка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93CAC50-2FA7-4764-A907-8426734F946B}"/>
              </a:ext>
            </a:extLst>
          </p:cNvPr>
          <p:cNvSpPr>
            <a:spLocks noGrp="1"/>
          </p:cNvSpPr>
          <p:nvPr/>
        </p:nvSpPr>
        <p:spPr>
          <a:xfrm>
            <a:off x="571500" y="2857500"/>
            <a:ext cx="476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Представлення під різні екрани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36B5E0D-8B59-4F96-9A2D-7F18A597F338}"/>
              </a:ext>
            </a:extLst>
          </p:cNvPr>
          <p:cNvSpPr>
            <a:spLocks noGrp="1"/>
          </p:cNvSpPr>
          <p:nvPr/>
        </p:nvSpPr>
        <p:spPr>
          <a:xfrm>
            <a:off x="1428750" y="3238500"/>
            <a:ext cx="3905250" cy="20955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DAA4A888-48C0-49B1-946D-C9E256F4B681}"/>
              </a:ext>
            </a:extLst>
          </p:cNvPr>
          <p:cNvSpPr>
            <a:spLocks noGrp="1"/>
          </p:cNvSpPr>
          <p:nvPr/>
        </p:nvSpPr>
        <p:spPr>
          <a:xfrm>
            <a:off x="1428750" y="3238500"/>
            <a:ext cx="3905250" cy="266700"/>
          </a:xfrm>
          <a:prstGeom prst="roundRect">
            <a:avLst>
              <a:gd name="adj" fmla="val 50000"/>
            </a:avLst>
          </a:prstGeom>
          <a:solidFill>
            <a:srgbClr val="E8EDF5"/>
          </a:solidFill>
          <a:ln w="0">
            <a:noFill/>
            <a:prstDash val="solid"/>
          </a:ln>
        </p:spPr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FA715890-3543-4AEB-943B-6DC1B4A95023}"/>
              </a:ext>
            </a:extLst>
          </p:cNvPr>
          <p:cNvSpPr>
            <a:spLocks noGrp="1"/>
          </p:cNvSpPr>
          <p:nvPr/>
        </p:nvSpPr>
        <p:spPr>
          <a:xfrm>
            <a:off x="1562100" y="3695700"/>
            <a:ext cx="1149350" cy="1352550"/>
          </a:xfrm>
          <a:prstGeom prst="roundRect">
            <a:avLst>
              <a:gd name="adj" fmla="val 9945"/>
            </a:avLst>
          </a:prstGeom>
          <a:solidFill>
            <a:srgbClr val="DBEAFE"/>
          </a:solidFill>
          <a:ln w="0">
            <a:noFill/>
            <a:prstDash val="solid"/>
          </a:ln>
        </p:spPr>
      </p:sp>
      <p:sp>
        <p:nvSpPr>
          <p:cNvPr id="20" name="Скругленный прямоугольник 19">
            <a:extLst>
              <a:ext uri="{FF2B5EF4-FFF2-40B4-BE49-F238E27FC236}">
                <a16:creationId xmlns:a16="http://schemas.microsoft.com/office/drawing/2014/main" id="{840CBB3A-7DFD-452C-80EE-4B02BA5EC52F}"/>
              </a:ext>
            </a:extLst>
          </p:cNvPr>
          <p:cNvSpPr>
            <a:spLocks noGrp="1"/>
          </p:cNvSpPr>
          <p:nvPr/>
        </p:nvSpPr>
        <p:spPr>
          <a:xfrm>
            <a:off x="2806700" y="3695700"/>
            <a:ext cx="1149350" cy="1352550"/>
          </a:xfrm>
          <a:prstGeom prst="roundRect">
            <a:avLst>
              <a:gd name="adj" fmla="val 9945"/>
            </a:avLst>
          </a:prstGeom>
          <a:solidFill>
            <a:srgbClr val="CFFAFE"/>
          </a:solidFill>
          <a:ln w="0">
            <a:noFill/>
            <a:prstDash val="solid"/>
          </a:ln>
        </p:spPr>
      </p:sp>
      <p:sp>
        <p:nvSpPr>
          <p:cNvPr id="21" name="Скругленный прямоугольник 20">
            <a:extLst>
              <a:ext uri="{FF2B5EF4-FFF2-40B4-BE49-F238E27FC236}">
                <a16:creationId xmlns:a16="http://schemas.microsoft.com/office/drawing/2014/main" id="{E9CAA96F-3320-4288-9AF3-513C2E8B3003}"/>
              </a:ext>
            </a:extLst>
          </p:cNvPr>
          <p:cNvSpPr>
            <a:spLocks noGrp="1"/>
          </p:cNvSpPr>
          <p:nvPr/>
        </p:nvSpPr>
        <p:spPr>
          <a:xfrm>
            <a:off x="4051300" y="3695700"/>
            <a:ext cx="1149350" cy="1352550"/>
          </a:xfrm>
          <a:prstGeom prst="roundRect">
            <a:avLst>
              <a:gd name="adj" fmla="val 9945"/>
            </a:avLst>
          </a:prstGeom>
          <a:solidFill>
            <a:srgbClr val="DBEAFE"/>
          </a:solidFill>
          <a:ln w="0">
            <a:noFill/>
            <a:prstDash val="solid"/>
          </a:ln>
        </p:spPr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BB5D634B-8B4B-4EC5-91F7-053EB6AB6DE6}"/>
              </a:ext>
            </a:extLst>
          </p:cNvPr>
          <p:cNvSpPr>
            <a:spLocks noGrp="1"/>
          </p:cNvSpPr>
          <p:nvPr/>
        </p:nvSpPr>
        <p:spPr>
          <a:xfrm>
            <a:off x="1428750" y="5448300"/>
            <a:ext cx="3905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Desktop · таблиці та графіки</a:t>
            </a: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5CFA9660-401F-489B-A208-31001BC0B192}"/>
              </a:ext>
            </a:extLst>
          </p:cNvPr>
          <p:cNvSpPr>
            <a:spLocks noGrp="1"/>
          </p:cNvSpPr>
          <p:nvPr/>
        </p:nvSpPr>
        <p:spPr>
          <a:xfrm>
            <a:off x="5619750" y="3543300"/>
            <a:ext cx="2667000" cy="179070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757BC074-8CF1-443B-9D00-B17078E2EF7B}"/>
              </a:ext>
            </a:extLst>
          </p:cNvPr>
          <p:cNvSpPr>
            <a:spLocks noGrp="1"/>
          </p:cNvSpPr>
          <p:nvPr/>
        </p:nvSpPr>
        <p:spPr>
          <a:xfrm>
            <a:off x="5619750" y="3543300"/>
            <a:ext cx="2667000" cy="266700"/>
          </a:xfrm>
          <a:prstGeom prst="roundRect">
            <a:avLst>
              <a:gd name="adj" fmla="val 50000"/>
            </a:avLst>
          </a:prstGeom>
          <a:solidFill>
            <a:srgbClr val="E8EDF5"/>
          </a:solidFill>
          <a:ln w="0">
            <a:noFill/>
            <a:prstDash val="solid"/>
          </a:ln>
        </p:spPr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66FC22A2-F1D0-4704-BC0A-68B45A1372FD}"/>
              </a:ext>
            </a:extLst>
          </p:cNvPr>
          <p:cNvSpPr>
            <a:spLocks noGrp="1"/>
          </p:cNvSpPr>
          <p:nvPr/>
        </p:nvSpPr>
        <p:spPr>
          <a:xfrm>
            <a:off x="5753100" y="4000500"/>
            <a:ext cx="1152525" cy="104775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 w="0">
            <a:noFill/>
            <a:prstDash val="solid"/>
          </a:ln>
        </p:spPr>
      </p:sp>
      <p:sp>
        <p:nvSpPr>
          <p:cNvPr id="26" name="Скругленный прямоугольник 25">
            <a:extLst>
              <a:ext uri="{FF2B5EF4-FFF2-40B4-BE49-F238E27FC236}">
                <a16:creationId xmlns:a16="http://schemas.microsoft.com/office/drawing/2014/main" id="{73C1B24A-C15E-40E0-9536-2B8E1097B0A7}"/>
              </a:ext>
            </a:extLst>
          </p:cNvPr>
          <p:cNvSpPr>
            <a:spLocks noGrp="1"/>
          </p:cNvSpPr>
          <p:nvPr/>
        </p:nvSpPr>
        <p:spPr>
          <a:xfrm>
            <a:off x="7000875" y="4000500"/>
            <a:ext cx="1152525" cy="1047750"/>
          </a:xfrm>
          <a:prstGeom prst="roundRect">
            <a:avLst>
              <a:gd name="adj" fmla="val 10909"/>
            </a:avLst>
          </a:prstGeom>
          <a:solidFill>
            <a:srgbClr val="CFFAFE"/>
          </a:solidFill>
          <a:ln w="0">
            <a:noFill/>
            <a:prstDash val="solid"/>
          </a:ln>
        </p:spPr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B289FCD4-D74F-480D-92A5-DDE1A569CF6F}"/>
              </a:ext>
            </a:extLst>
          </p:cNvPr>
          <p:cNvSpPr>
            <a:spLocks noGrp="1"/>
          </p:cNvSpPr>
          <p:nvPr/>
        </p:nvSpPr>
        <p:spPr>
          <a:xfrm>
            <a:off x="5619750" y="54483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Tablet · компактні блоки</a:t>
            </a:r>
          </a:p>
        </p:txBody>
      </p:sp>
      <p:sp>
        <p:nvSpPr>
          <p:cNvPr id="28" name="Скругленный прямоугольник 27">
            <a:extLst>
              <a:ext uri="{FF2B5EF4-FFF2-40B4-BE49-F238E27FC236}">
                <a16:creationId xmlns:a16="http://schemas.microsoft.com/office/drawing/2014/main" id="{22E7479C-66F5-46FC-821D-30A89279E72C}"/>
              </a:ext>
            </a:extLst>
          </p:cNvPr>
          <p:cNvSpPr>
            <a:spLocks noGrp="1"/>
          </p:cNvSpPr>
          <p:nvPr/>
        </p:nvSpPr>
        <p:spPr>
          <a:xfrm>
            <a:off x="9001125" y="3238500"/>
            <a:ext cx="1428750" cy="22860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CE3E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6">
            <a:scrgbClr r="0" g="0" b="0"/>
          </a:effectRef>
          <a:fontRef idx="major"/>
        </p:style>
      </p:sp>
      <p:sp>
        <p:nvSpPr>
          <p:cNvPr id="30" name="Скругленный прямоугольник 29">
            <a:extLst>
              <a:ext uri="{FF2B5EF4-FFF2-40B4-BE49-F238E27FC236}">
                <a16:creationId xmlns:a16="http://schemas.microsoft.com/office/drawing/2014/main" id="{AE65DDEB-EF95-47F3-9773-B0B1B3D691D5}"/>
              </a:ext>
            </a:extLst>
          </p:cNvPr>
          <p:cNvSpPr>
            <a:spLocks noGrp="1"/>
          </p:cNvSpPr>
          <p:nvPr/>
        </p:nvSpPr>
        <p:spPr>
          <a:xfrm>
            <a:off x="9134475" y="3695700"/>
            <a:ext cx="1162050" cy="1543050"/>
          </a:xfrm>
          <a:prstGeom prst="roundRect">
            <a:avLst>
              <a:gd name="adj" fmla="val 9836"/>
            </a:avLst>
          </a:prstGeom>
          <a:solidFill>
            <a:srgbClr val="DBEAFE"/>
          </a:solidFill>
          <a:ln w="0">
            <a:noFill/>
            <a:prstDash val="solid"/>
          </a:ln>
        </p:spPr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3C729504-5E87-4197-822D-397CC4B3CFA9}"/>
              </a:ext>
            </a:extLst>
          </p:cNvPr>
          <p:cNvSpPr>
            <a:spLocks noGrp="1"/>
          </p:cNvSpPr>
          <p:nvPr/>
        </p:nvSpPr>
        <p:spPr>
          <a:xfrm>
            <a:off x="9001125" y="563880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Mobile · 1 колонка</a:t>
            </a:r>
          </a:p>
        </p:txBody>
      </p:sp>
      <p:sp>
        <p:nvSpPr>
          <p:cNvPr id="40" name="Скругленный прямоугольник 39">
            <a:extLst>
              <a:ext uri="{FF2B5EF4-FFF2-40B4-BE49-F238E27FC236}">
                <a16:creationId xmlns:a16="http://schemas.microsoft.com/office/drawing/2014/main" id="{757BC074-8CF1-443B-9D00-B17078E2EF7B}"/>
              </a:ext>
            </a:extLst>
          </p:cNvPr>
          <p:cNvSpPr>
            <a:spLocks noGrp="1"/>
          </p:cNvSpPr>
          <p:nvPr/>
        </p:nvSpPr>
        <p:spPr>
          <a:xfrm>
            <a:off x="9001125" y="3238500"/>
            <a:ext cx="1428750" cy="190500"/>
          </a:xfrm>
          <a:prstGeom prst="roundRect">
            <a:avLst>
              <a:gd name="adj" fmla="val 50000"/>
            </a:avLst>
          </a:prstGeom>
          <a:solidFill>
            <a:srgbClr val="E8EDF5"/>
          </a:solidFill>
          <a:ln w="0">
            <a:noFill/>
            <a:prstDash val="solid"/>
          </a:ln>
        </p:spPr>
      </p:sp>
      <p:pic>
        <p:nvPicPr>
          <p:cNvPr id="73" name="Google Shape;87;p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259" y="5987875"/>
            <a:ext cx="922334" cy="501999"/>
          </a:xfrm>
          <a:prstGeom prst="rect">
            <a:avLst/>
          </a:prstGeom>
          <a:ln w="0">
            <a:noFill/>
          </a:ln>
        </p:spPr>
      </p:pic>
      <p:pic>
        <p:nvPicPr>
          <p:cNvPr id="74" name="Google Shape;65;p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23850" y="122915"/>
            <a:ext cx="2133720" cy="389520"/>
          </a:xfrm>
          <a:prstGeom prst="rect">
            <a:avLst/>
          </a:prstGeom>
          <a:ln w="0">
            <a:noFill/>
          </a:ln>
        </p:spPr>
      </p:pic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1D00FEC8-7FF4-91E5-A98C-E3A04013F1C4}"/>
              </a:ext>
            </a:extLst>
          </p:cNvPr>
          <p:cNvCxnSpPr/>
          <p:nvPr/>
        </p:nvCxnSpPr>
        <p:spPr>
          <a:xfrm>
            <a:off x="11100619" y="776749"/>
            <a:ext cx="519881" cy="0"/>
          </a:xfrm>
          <a:prstGeom prst="line">
            <a:avLst/>
          </a:prstGeom>
          <a:ln w="28575"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8782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5E1A02D-E5AE-4A21-A205-FD1E58E5F7FA}"/>
              </a:ext>
            </a:extLst>
          </p:cNvPr>
          <p:cNvSpPr>
            <a:spLocks noGrp="1"/>
          </p:cNvSpPr>
          <p:nvPr/>
        </p:nvSpPr>
        <p:spPr>
          <a:xfrm>
            <a:off x="571500" y="647700"/>
            <a:ext cx="10668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Результати роботи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77B52A04-27CE-4299-8E3F-C0FD9D513452}"/>
              </a:ext>
            </a:extLst>
          </p:cNvPr>
          <p:cNvSpPr>
            <a:spLocks noGrp="1"/>
          </p:cNvSpPr>
          <p:nvPr/>
        </p:nvSpPr>
        <p:spPr>
          <a:xfrm>
            <a:off x="590550" y="1809750"/>
            <a:ext cx="266700" cy="266700"/>
          </a:xfrm>
          <a:prstGeom prst="ellipse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2BE0874-B5A2-4E7A-8E75-4A0F316D4B20}"/>
              </a:ext>
            </a:extLst>
          </p:cNvPr>
          <p:cNvSpPr>
            <a:spLocks noGrp="1"/>
          </p:cNvSpPr>
          <p:nvPr/>
        </p:nvSpPr>
        <p:spPr>
          <a:xfrm>
            <a:off x="590550" y="1838325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62DC719-02C9-4E89-A7DB-E9CDF9D4B62A}"/>
              </a:ext>
            </a:extLst>
          </p:cNvPr>
          <p:cNvSpPr>
            <a:spLocks noGrp="1"/>
          </p:cNvSpPr>
          <p:nvPr/>
        </p:nvSpPr>
        <p:spPr>
          <a:xfrm>
            <a:off x="1009650" y="18002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облік мостів, сенсорів та інспекторів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90662049-3904-4EC4-8E6D-08CB1C267554}"/>
              </a:ext>
            </a:extLst>
          </p:cNvPr>
          <p:cNvSpPr>
            <a:spLocks noGrp="1"/>
          </p:cNvSpPr>
          <p:nvPr/>
        </p:nvSpPr>
        <p:spPr>
          <a:xfrm>
            <a:off x="590550" y="2400300"/>
            <a:ext cx="266700" cy="266700"/>
          </a:xfrm>
          <a:prstGeom prst="ellipse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BEB35252-377F-42C5-99AE-C13A17352A4B}"/>
              </a:ext>
            </a:extLst>
          </p:cNvPr>
          <p:cNvSpPr>
            <a:spLocks noGrp="1"/>
          </p:cNvSpPr>
          <p:nvPr/>
        </p:nvSpPr>
        <p:spPr>
          <a:xfrm>
            <a:off x="590550" y="2428875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7BEC68F-4C88-4970-8A0D-B1272A7DF5D5}"/>
              </a:ext>
            </a:extLst>
          </p:cNvPr>
          <p:cNvSpPr>
            <a:spLocks noGrp="1"/>
          </p:cNvSpPr>
          <p:nvPr/>
        </p:nvSpPr>
        <p:spPr>
          <a:xfrm>
            <a:off x="1009650" y="23907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приймання показників через REST API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1A49207B-98EF-4A1D-9999-D2B22B7637E0}"/>
              </a:ext>
            </a:extLst>
          </p:cNvPr>
          <p:cNvSpPr>
            <a:spLocks noGrp="1"/>
          </p:cNvSpPr>
          <p:nvPr/>
        </p:nvSpPr>
        <p:spPr>
          <a:xfrm>
            <a:off x="590550" y="2990850"/>
            <a:ext cx="266700" cy="266700"/>
          </a:xfrm>
          <a:prstGeom prst="ellipse">
            <a:avLst/>
          </a:prstGeom>
          <a:solidFill>
            <a:srgbClr val="06B6D4"/>
          </a:solidFill>
          <a:ln w="0">
            <a:noFill/>
            <a:prstDash val="solid"/>
          </a:ln>
        </p:spPr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3242992-C96D-4D56-A623-BB2655EEE2BB}"/>
              </a:ext>
            </a:extLst>
          </p:cNvPr>
          <p:cNvSpPr>
            <a:spLocks noGrp="1"/>
          </p:cNvSpPr>
          <p:nvPr/>
        </p:nvSpPr>
        <p:spPr>
          <a:xfrm>
            <a:off x="590550" y="3019425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2B3F064-0FA7-4004-B6FA-97917142C4D4}"/>
              </a:ext>
            </a:extLst>
          </p:cNvPr>
          <p:cNvSpPr>
            <a:spLocks noGrp="1"/>
          </p:cNvSpPr>
          <p:nvPr/>
        </p:nvSpPr>
        <p:spPr>
          <a:xfrm>
            <a:off x="1009650" y="29813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автоматична перевірка допустимих меж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8FB3AE7A-D891-409B-B16A-9B5BC11143C6}"/>
              </a:ext>
            </a:extLst>
          </p:cNvPr>
          <p:cNvSpPr>
            <a:spLocks noGrp="1"/>
          </p:cNvSpPr>
          <p:nvPr/>
        </p:nvSpPr>
        <p:spPr>
          <a:xfrm>
            <a:off x="590550" y="3581400"/>
            <a:ext cx="266700" cy="266700"/>
          </a:xfrm>
          <a:prstGeom prst="ellipse">
            <a:avLst/>
          </a:prstGeom>
          <a:solidFill>
            <a:srgbClr val="10B981"/>
          </a:solidFill>
          <a:ln w="0">
            <a:noFill/>
            <a:prstDash val="solid"/>
          </a:ln>
        </p:spPr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C631CD4-5B09-4F67-8843-56ECA87B5AAB}"/>
              </a:ext>
            </a:extLst>
          </p:cNvPr>
          <p:cNvSpPr>
            <a:spLocks noGrp="1"/>
          </p:cNvSpPr>
          <p:nvPr/>
        </p:nvSpPr>
        <p:spPr>
          <a:xfrm>
            <a:off x="590550" y="3609975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6752569-39CD-4231-8403-223EA334C534}"/>
              </a:ext>
            </a:extLst>
          </p:cNvPr>
          <p:cNvSpPr>
            <a:spLocks noGrp="1"/>
          </p:cNvSpPr>
          <p:nvPr/>
        </p:nvSpPr>
        <p:spPr>
          <a:xfrm>
            <a:off x="1009650" y="35718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аварійні повідомлення warning/danger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1428AF14-009F-4DFA-AF5D-F0D1CA7A572F}"/>
              </a:ext>
            </a:extLst>
          </p:cNvPr>
          <p:cNvSpPr>
            <a:spLocks noGrp="1"/>
          </p:cNvSpPr>
          <p:nvPr/>
        </p:nvSpPr>
        <p:spPr>
          <a:xfrm>
            <a:off x="590550" y="4171950"/>
            <a:ext cx="266700" cy="266700"/>
          </a:xfrm>
          <a:prstGeom prst="ellipse">
            <a:avLst/>
          </a:prstGeom>
          <a:solidFill>
            <a:srgbClr val="10B981"/>
          </a:solidFill>
          <a:ln w="0">
            <a:noFill/>
            <a:prstDash val="solid"/>
          </a:ln>
        </p:spPr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E43F1531-19A9-4DFC-ABEF-FBB103481D3C}"/>
              </a:ext>
            </a:extLst>
          </p:cNvPr>
          <p:cNvSpPr>
            <a:spLocks noGrp="1"/>
          </p:cNvSpPr>
          <p:nvPr/>
        </p:nvSpPr>
        <p:spPr>
          <a:xfrm>
            <a:off x="590550" y="4200525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E9E0267-94AC-45AC-BB7C-DA039EB9DCC1}"/>
              </a:ext>
            </a:extLst>
          </p:cNvPr>
          <p:cNvSpPr>
            <a:spLocks noGrp="1"/>
          </p:cNvSpPr>
          <p:nvPr/>
        </p:nvSpPr>
        <p:spPr>
          <a:xfrm>
            <a:off x="1009650" y="416242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графіки та історія вимірювань</a:t>
            </a:r>
          </a:p>
        </p:txBody>
      </p:sp>
      <p:sp>
        <p:nvSpPr>
          <p:cNvPr id="20" name="Овал 19">
            <a:extLst>
              <a:ext uri="{FF2B5EF4-FFF2-40B4-BE49-F238E27FC236}">
                <a16:creationId xmlns:a16="http://schemas.microsoft.com/office/drawing/2014/main" id="{6A01A89B-988D-4C0A-9816-9B3A309DB34A}"/>
              </a:ext>
            </a:extLst>
          </p:cNvPr>
          <p:cNvSpPr>
            <a:spLocks noGrp="1"/>
          </p:cNvSpPr>
          <p:nvPr/>
        </p:nvSpPr>
        <p:spPr>
          <a:xfrm>
            <a:off x="590550" y="4762500"/>
            <a:ext cx="266700" cy="266700"/>
          </a:xfrm>
          <a:prstGeom prst="ellipse">
            <a:avLst/>
          </a:prstGeom>
          <a:solidFill>
            <a:srgbClr val="10B981"/>
          </a:solidFill>
          <a:ln w="0">
            <a:noFill/>
            <a:prstDash val="solid"/>
          </a:ln>
        </p:spPr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3CF85460-1D05-432B-9C30-9646AACB6B7E}"/>
              </a:ext>
            </a:extLst>
          </p:cNvPr>
          <p:cNvSpPr>
            <a:spLocks noGrp="1"/>
          </p:cNvSpPr>
          <p:nvPr/>
        </p:nvSpPr>
        <p:spPr>
          <a:xfrm>
            <a:off x="590550" y="4791075"/>
            <a:ext cx="2667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✓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3A2AE38-99A5-4CEA-A793-975FFEB060FB}"/>
              </a:ext>
            </a:extLst>
          </p:cNvPr>
          <p:cNvSpPr>
            <a:spLocks noGrp="1"/>
          </p:cNvSpPr>
          <p:nvPr/>
        </p:nvSpPr>
        <p:spPr>
          <a:xfrm>
            <a:off x="1009650" y="4752975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експертна оцінка стану мосту</a:t>
            </a:r>
          </a:p>
        </p:txBody>
      </p:sp>
      <p:pic>
        <p:nvPicPr>
          <p:cNvPr id="47" name="Google Shape;87;p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7259" y="5987875"/>
            <a:ext cx="922334" cy="501999"/>
          </a:xfrm>
          <a:prstGeom prst="rect">
            <a:avLst/>
          </a:prstGeom>
          <a:ln w="0">
            <a:noFill/>
          </a:ln>
        </p:spPr>
      </p:pic>
      <p:pic>
        <p:nvPicPr>
          <p:cNvPr id="48" name="Google Shape;65;p1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23850" y="122915"/>
            <a:ext cx="2133720" cy="389520"/>
          </a:xfrm>
          <a:prstGeom prst="rect">
            <a:avLst/>
          </a:prstGeom>
          <a:ln w="0">
            <a:noFill/>
          </a:ln>
        </p:spPr>
      </p:pic>
      <p:pic>
        <p:nvPicPr>
          <p:cNvPr id="49" name="Рисунок 4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505027" y="970809"/>
            <a:ext cx="5477605" cy="5313822"/>
          </a:xfrm>
          <a:prstGeom prst="roundRect">
            <a:avLst>
              <a:gd name="adj" fmla="val 0"/>
            </a:avLst>
          </a:prstGeom>
        </p:spPr>
      </p:pic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33348062-8AC3-D9C1-4C64-C56236845D1A}"/>
              </a:ext>
            </a:extLst>
          </p:cNvPr>
          <p:cNvSpPr>
            <a:spLocks noGrp="1"/>
          </p:cNvSpPr>
          <p:nvPr/>
        </p:nvSpPr>
        <p:spPr>
          <a:xfrm>
            <a:off x="10982632" y="400050"/>
            <a:ext cx="637868" cy="2476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900" b="1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lang="ru-RU" sz="2400" b="1" dirty="0">
                <a:solidFill>
                  <a:schemeClr val="bg2"/>
                </a:solidFill>
                <a:latin typeface="Aptos"/>
                <a:ea typeface="Aptos"/>
                <a:cs typeface="Aptos"/>
              </a:rPr>
              <a:t>11</a:t>
            </a:r>
            <a:endParaRPr sz="2400" b="1" dirty="0">
              <a:solidFill>
                <a:schemeClr val="bg2"/>
              </a:solidFill>
              <a:latin typeface="Aptos"/>
              <a:ea typeface="Aptos"/>
              <a:cs typeface="Aptos"/>
            </a:endParaRPr>
          </a:p>
        </p:txBody>
      </p:sp>
      <p:cxnSp>
        <p:nvCxnSpPr>
          <p:cNvPr id="25" name="Прямая соединительная линия 24">
            <a:extLst>
              <a:ext uri="{FF2B5EF4-FFF2-40B4-BE49-F238E27FC236}">
                <a16:creationId xmlns:a16="http://schemas.microsoft.com/office/drawing/2014/main" id="{6FA3EB7E-E5DC-77A7-386A-504AE3F7A24D}"/>
              </a:ext>
            </a:extLst>
          </p:cNvPr>
          <p:cNvCxnSpPr/>
          <p:nvPr/>
        </p:nvCxnSpPr>
        <p:spPr>
          <a:xfrm>
            <a:off x="11100619" y="776749"/>
            <a:ext cx="519881" cy="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57903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371</Words>
  <Application>Microsoft Office PowerPoint</Application>
  <DocSecurity>0</DocSecurity>
  <PresentationFormat>Широкоэкранный</PresentationFormat>
  <Paragraphs>119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Calibri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Кирилл Пугачёв</dc:creator>
  <cp:lastModifiedBy>Кирилл Пугачёв</cp:lastModifiedBy>
  <cp:revision>3</cp:revision>
  <dcterms:created xsi:type="dcterms:W3CDTF">2026-06-20T13:48:00Z</dcterms:created>
  <dcterms:modified xsi:type="dcterms:W3CDTF">2026-07-09T11:27:39Z</dcterms:modified>
</cp:coreProperties>
</file>